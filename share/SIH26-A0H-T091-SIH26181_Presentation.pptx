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Oswald Medium"/>
      <p:regular r:id="rId12"/>
      <p:bold r:id="rId13"/>
    </p:embeddedFont>
    <p:embeddedFont>
      <p:font typeface="Garamond"/>
      <p:regular r:id="rId14"/>
      <p:bold r:id="rId15"/>
      <p:italic r:id="rId16"/>
      <p:boldItalic r:id="rId17"/>
    </p:embeddedFont>
    <p:embeddedFont>
      <p:font typeface="Oswald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OswaldMedium-bold.fntdata"/><Relationship Id="rId12" Type="http://schemas.openxmlformats.org/officeDocument/2006/relationships/font" Target="fonts/Oswald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aramond-bold.fntdata"/><Relationship Id="rId14" Type="http://schemas.openxmlformats.org/officeDocument/2006/relationships/font" Target="fonts/Garamond-regular.fntdata"/><Relationship Id="rId17" Type="http://schemas.openxmlformats.org/officeDocument/2006/relationships/font" Target="fonts/Garamond-boldItalic.fntdata"/><Relationship Id="rId16" Type="http://schemas.openxmlformats.org/officeDocument/2006/relationships/font" Target="fonts/Garamond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swald-bold.fntdata"/><Relationship Id="rId6" Type="http://schemas.openxmlformats.org/officeDocument/2006/relationships/slide" Target="slides/slide1.xml"/><Relationship Id="rId18" Type="http://schemas.openxmlformats.org/officeDocument/2006/relationships/font" Target="fonts/Oswa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7e0eb9333_1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4" name="Google Shape;144;g387e0eb9333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g387e0eb9333_11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821531"/>
            <a:ext cx="8229600" cy="37730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3305177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3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200152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200152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7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7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1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04790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1" y="1076327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685455" y="-1406723"/>
            <a:ext cx="3773091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5463778" y="1371603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272778" y="-609597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821531"/>
            <a:ext cx="8229600" cy="37730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5112511" y="638650"/>
            <a:ext cx="3525339" cy="3866225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118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6032886" y="1653341"/>
            <a:ext cx="2402632" cy="256967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>
            <p:ph type="ctrTitle"/>
          </p:nvPr>
        </p:nvSpPr>
        <p:spPr>
          <a:xfrm>
            <a:off x="-108742" y="192147"/>
            <a:ext cx="77724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2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32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0" y="1893431"/>
            <a:ext cx="5721600" cy="20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C57D3"/>
                </a:solidFill>
                <a:latin typeface="Calibri"/>
                <a:ea typeface="Calibri"/>
                <a:cs typeface="Calibri"/>
                <a:sym typeface="Calibri"/>
              </a:rPr>
              <a:t>TeamID</a:t>
            </a:r>
            <a:r>
              <a:rPr b="1" lang="en" sz="1900">
                <a:solidFill>
                  <a:srgbClr val="0C57D3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SIH</a:t>
            </a:r>
            <a:r>
              <a:rPr b="1"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-A0H-T091</a:t>
            </a:r>
            <a:br>
              <a:rPr b="1"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900" u="none" cap="none" strike="noStrike">
                <a:solidFill>
                  <a:srgbClr val="0C57D3"/>
                </a:solidFill>
                <a:latin typeface="Calibri"/>
                <a:ea typeface="Calibri"/>
                <a:cs typeface="Calibri"/>
                <a:sym typeface="Calibri"/>
              </a:rPr>
              <a:t>Problem Statement ID</a:t>
            </a:r>
            <a:r>
              <a:rPr b="1" lang="en" sz="1900">
                <a:solidFill>
                  <a:srgbClr val="0C57D3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SIH2618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00" u="none" cap="none" strike="noStrike">
                <a:solidFill>
                  <a:srgbClr val="0C57D3"/>
                </a:solidFill>
                <a:latin typeface="Calibri"/>
                <a:ea typeface="Calibri"/>
                <a:cs typeface="Calibri"/>
                <a:sym typeface="Calibri"/>
              </a:rPr>
              <a:t>Problem Statement Title</a:t>
            </a:r>
            <a:r>
              <a:rPr b="1" lang="en" sz="19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secure, AI-powered Personal Health Companion 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00" u="none" cap="none" strike="noStrike">
                <a:solidFill>
                  <a:srgbClr val="0C57D3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r>
              <a:rPr b="1" lang="en" sz="19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en" sz="1900">
                <a:latin typeface="Calibri"/>
                <a:ea typeface="Calibri"/>
                <a:cs typeface="Calibri"/>
                <a:sym typeface="Calibri"/>
              </a:rPr>
              <a:t>MedTech / BioTech / HealthTech</a:t>
            </a:r>
            <a:endParaRPr b="1" sz="19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00" u="none" cap="none" strike="noStrike">
                <a:solidFill>
                  <a:srgbClr val="0C57D3"/>
                </a:solidFill>
                <a:latin typeface="Calibri"/>
                <a:ea typeface="Calibri"/>
                <a:cs typeface="Calibri"/>
                <a:sym typeface="Calibri"/>
              </a:rPr>
              <a:t>PS Category</a:t>
            </a:r>
            <a:r>
              <a:rPr b="1" lang="en" sz="19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00" u="none" cap="none" strike="noStrike">
                <a:solidFill>
                  <a:srgbClr val="0C57D3"/>
                </a:solidFill>
                <a:latin typeface="Calibri"/>
                <a:ea typeface="Calibri"/>
                <a:cs typeface="Calibri"/>
                <a:sym typeface="Calibri"/>
              </a:rPr>
              <a:t>Team Name (Registered on portal</a:t>
            </a:r>
            <a:r>
              <a:rPr b="1" lang="en" sz="19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): </a:t>
            </a:r>
            <a:r>
              <a:rPr b="1"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DraftZero</a:t>
            </a:r>
            <a:endParaRPr b="1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20646" y="0"/>
            <a:ext cx="1723354" cy="81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83725" y="3390950"/>
            <a:ext cx="8964000" cy="1291800"/>
          </a:xfrm>
          <a:prstGeom prst="rect">
            <a:avLst/>
          </a:prstGeom>
          <a:noFill/>
          <a:ln cap="flat" cmpd="sng" w="190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Your startup LOGO" id="95" name="Google Shape;95;p14"/>
          <p:cNvSpPr/>
          <p:nvPr/>
        </p:nvSpPr>
        <p:spPr>
          <a:xfrm>
            <a:off x="83725" y="32449"/>
            <a:ext cx="983700" cy="6489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  <a:t>DraftZero</a:t>
            </a:r>
            <a:endParaRPr b="0" i="0" sz="1200" u="none" cap="none" strike="noStrike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0" y="4766072"/>
            <a:ext cx="9143999" cy="37742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118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>
            <p:ph type="title"/>
          </p:nvPr>
        </p:nvSpPr>
        <p:spPr>
          <a:xfrm>
            <a:off x="-41971" y="-114164"/>
            <a:ext cx="9143999" cy="37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br>
              <a:rPr b="1" lang="en" sz="2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2700">
                <a:solidFill>
                  <a:srgbClr val="17375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PHOENIX</a:t>
            </a:r>
            <a:br>
              <a:rPr b="1" lang="en" sz="2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Personal Health Observation And Early Warning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4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b="1" lang="en" sz="1100">
                <a:solidFill>
                  <a:schemeClr val="lt1"/>
                </a:solidFill>
              </a:rPr>
              <a:t>‹#›</a:t>
            </a:fld>
            <a:endParaRPr b="1" sz="1100">
              <a:solidFill>
                <a:schemeClr val="lt1"/>
              </a:solidFill>
            </a:endParaRPr>
          </a:p>
        </p:txBody>
      </p:sp>
      <p:sp>
        <p:nvSpPr>
          <p:cNvPr id="99" name="Google Shape;99;p14"/>
          <p:cNvSpPr txBox="1"/>
          <p:nvPr>
            <p:ph idx="11" type="ftr"/>
          </p:nvPr>
        </p:nvSpPr>
        <p:spPr>
          <a:xfrm>
            <a:off x="3486150" y="4767265"/>
            <a:ext cx="2403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00">
                <a:solidFill>
                  <a:schemeClr val="lt1"/>
                </a:solidFill>
              </a:rPr>
              <a:t>@SIH Idea submission- Template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83725" y="783825"/>
            <a:ext cx="4340400" cy="2525700"/>
          </a:xfrm>
          <a:prstGeom prst="rect">
            <a:avLst/>
          </a:prstGeom>
          <a:noFill/>
          <a:ln cap="flat" cmpd="sng" w="190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53125" y="735225"/>
            <a:ext cx="4451700" cy="26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u="sng" cap="none" strike="noStrike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  <a:t>Proposed Solution:</a:t>
            </a:r>
            <a:endParaRPr b="1" i="0" u="sng" cap="none" strike="noStrike">
              <a:solidFill>
                <a:srgbClr val="1737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privacy-preserving edge health monitoring system that uses physiological, behavioral and environmental data to forecast the user's near-future vital signs, compare them with a personalized contextual baseline, and identify emerging physiological risks before they become severe.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1" lang="en" u="sng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  <a:t>eatures:</a:t>
            </a:r>
            <a:endParaRPr b="1" u="sng">
              <a:solidFill>
                <a:srgbClr val="1737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➔"/>
            </a:pPr>
            <a:r>
              <a:rPr b="1" lang="en" sz="1300" u="sng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Multimodal Risk Detection</a:t>
            </a:r>
            <a:r>
              <a:rPr b="1" lang="en" sz="1300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Combines all signals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mentioned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detect Thermal, Dehydration, Cardiovascular and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Respiratory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Distress.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➔"/>
            </a:pPr>
            <a:r>
              <a:rPr b="1" lang="en" sz="1300" u="sng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Explainable Alerts:</a:t>
            </a:r>
            <a:r>
              <a:rPr b="1" lang="en" sz="13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Highlights key factors contributing to a risk and provides actionable suggestions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83713" y="3365506"/>
            <a:ext cx="467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300" u="sng">
                <a:solidFill>
                  <a:srgbClr val="17375E"/>
                </a:solidFill>
              </a:rPr>
              <a:t>How it Works: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12225" y="3561200"/>
            <a:ext cx="88908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1" lang="en" sz="125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Forecast </a:t>
            </a:r>
            <a:r>
              <a:rPr b="1" lang="en" sz="125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and quality-checks signals, then forecasts the user’s physiological state 5-10 minutes ahead using lightweight temporal ML model.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b="1" lang="en" sz="125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Personalize </a:t>
            </a:r>
            <a:r>
              <a:rPr b="1" lang="en" sz="125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en"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Compares predicted vitals against a context-aware personal baseline learned from the user’s historical data. 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1" lang="en" sz="125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Act :</a:t>
            </a:r>
            <a:r>
              <a:rPr lang="en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"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Forecast and Present signals are compared with baseline</a:t>
            </a:r>
            <a:r>
              <a:rPr lang="en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"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According to the deviation, Confidence and persistence are checked before producing Stable/Monitor/Warning/Critical/Abstain states, followed by XAI and recommendations.</a:t>
            </a:r>
            <a:endParaRPr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2376" y="784300"/>
            <a:ext cx="3875148" cy="25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2048" y="0"/>
            <a:ext cx="1371953" cy="64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Your startup LOGO" id="111" name="Google Shape;111;p15"/>
          <p:cNvSpPr/>
          <p:nvPr/>
        </p:nvSpPr>
        <p:spPr>
          <a:xfrm>
            <a:off x="83725" y="32449"/>
            <a:ext cx="983700" cy="6489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  <a:t>DraftZero</a:t>
            </a:r>
            <a:endParaRPr b="0" i="0" sz="1200" u="none" cap="none" strike="noStrike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0" y="4766072"/>
            <a:ext cx="9144000" cy="3774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118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>
            <p:ph type="title"/>
          </p:nvPr>
        </p:nvSpPr>
        <p:spPr>
          <a:xfrm>
            <a:off x="877950" y="0"/>
            <a:ext cx="7619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700">
                <a:solidFill>
                  <a:srgbClr val="17375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sz="1100">
              <a:solidFill>
                <a:srgbClr val="17375E"/>
              </a:solidFill>
            </a:endParaRPr>
          </a:p>
        </p:txBody>
      </p:sp>
      <p:sp>
        <p:nvSpPr>
          <p:cNvPr id="114" name="Google Shape;114;p15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b="1" lang="en" sz="1100">
                <a:solidFill>
                  <a:schemeClr val="lt1"/>
                </a:solidFill>
              </a:rPr>
              <a:t>‹#›</a:t>
            </a:fld>
            <a:endParaRPr b="1" sz="1100">
              <a:solidFill>
                <a:schemeClr val="lt1"/>
              </a:solidFill>
            </a:endParaRPr>
          </a:p>
        </p:txBody>
      </p:sp>
      <p:sp>
        <p:nvSpPr>
          <p:cNvPr id="115" name="Google Shape;115;p15"/>
          <p:cNvSpPr txBox="1"/>
          <p:nvPr>
            <p:ph idx="11" type="ftr"/>
          </p:nvPr>
        </p:nvSpPr>
        <p:spPr>
          <a:xfrm>
            <a:off x="3486150" y="4767265"/>
            <a:ext cx="2403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00">
                <a:solidFill>
                  <a:schemeClr val="lt1"/>
                </a:solidFill>
              </a:rPr>
              <a:t>@SIH Idea submission- Template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0" y="3023325"/>
            <a:ext cx="2403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r>
              <a:rPr b="1"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MAX30102, TMP117, MPU6050, BME280, SGP40, VEML6075, Smartphone, ESP32-C3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Connectivity</a:t>
            </a:r>
            <a:r>
              <a:rPr b="1"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BLE / Health Connect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Edge: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Android + Kotlin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Processing: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Numpy, Scipy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2257538" y="3074975"/>
            <a:ext cx="3063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AI: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PyTorch → ONNX/TFLite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Risk:</a:t>
            </a:r>
            <a:r>
              <a:rPr lang="en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Scikit-learn / PyTorch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Explainable AI:</a:t>
            </a:r>
            <a:r>
              <a:rPr lang="en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Storage: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Room / SQLite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Security: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Android Keystore, Encrypted Local Storage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04526"/>
            <a:ext cx="8311225" cy="2249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0850" y="2998637"/>
            <a:ext cx="3673399" cy="172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4769425" y="2720975"/>
            <a:ext cx="2187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Sensor Schematic</a:t>
            </a:r>
            <a:r>
              <a:rPr b="1" lang="en" sz="1100" u="sng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100" u="sng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15" title="ChatGPT Image Aug 30, 2026, 06_25_02 PM.png"/>
          <p:cNvPicPr preferRelativeResize="0"/>
          <p:nvPr/>
        </p:nvPicPr>
        <p:blipFill rotWithShape="1">
          <a:blip r:embed="rId5">
            <a:alphaModFix/>
          </a:blip>
          <a:srcRect b="7210" l="75246" r="0" t="0"/>
          <a:stretch/>
        </p:blipFill>
        <p:spPr>
          <a:xfrm>
            <a:off x="8217525" y="630599"/>
            <a:ext cx="776736" cy="1941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10735" y="0"/>
            <a:ext cx="1333265" cy="63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0" y="2813450"/>
            <a:ext cx="2187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Tech Stack:</a:t>
            </a:r>
            <a:endParaRPr sz="1100" u="sng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2700000">
            <a:off x="844846" y="1819093"/>
            <a:ext cx="63032" cy="2957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6407975" y="647675"/>
            <a:ext cx="2631300" cy="3993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3249825" y="647675"/>
            <a:ext cx="3049500" cy="3993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91675" y="642200"/>
            <a:ext cx="3049500" cy="3993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0" y="4766072"/>
            <a:ext cx="9144000" cy="3774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12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>
            <p:ph idx="12" type="sldNum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fld id="{00000000-1234-1234-1234-123412341234}" type="slidenum">
              <a:rPr b="1" i="0" lang="en" sz="9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5" name="Google Shape;135;p16"/>
          <p:cNvSpPr txBox="1"/>
          <p:nvPr>
            <p:ph idx="11" type="ftr"/>
          </p:nvPr>
        </p:nvSpPr>
        <p:spPr>
          <a:xfrm>
            <a:off x="3464225" y="4690490"/>
            <a:ext cx="240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179525" y="93000"/>
            <a:ext cx="3227700" cy="55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17375E"/>
                </a:solidFill>
              </a:rPr>
              <a:t> </a:t>
            </a:r>
            <a:endParaRPr b="1" sz="1700">
              <a:solidFill>
                <a:srgbClr val="17375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17375E"/>
                </a:solidFill>
              </a:rPr>
              <a:t>FEASIBILITY</a:t>
            </a:r>
            <a:endParaRPr b="1" sz="1700">
              <a:solidFill>
                <a:srgbClr val="17375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  <a:t>Commercially Available Sensors</a:t>
            </a: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HR/PPG, SpO₂, temperature &amp; IMU sensors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  <a:t>Smartphone as Edge Device</a:t>
            </a: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Local processing, storage &amp; inference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  <a:t>Low Computational Overhead</a:t>
            </a: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-Lightweight forecasting and risk models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  <a:t>Available Research Datasets</a:t>
            </a: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-Public datasets for forecasting &amp; risk-specific models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  <a:t>Hybrid AI Approach</a:t>
            </a: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ML forecasting + statistical baseline + risk models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3328863" y="688975"/>
            <a:ext cx="28914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7375E"/>
                </a:solidFill>
              </a:rPr>
              <a:t>PROBLEMS &amp; STRATEGIES</a:t>
            </a:r>
            <a:endParaRPr b="1" sz="1600">
              <a:solidFill>
                <a:srgbClr val="17375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  <a:t>Noisy Wearable Signals</a:t>
            </a: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Signal processing + quality assessment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  <a:t>Limited Risk Labels</a:t>
            </a: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Risk-specific datasets + evidence-based rules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  <a:t>Personal Physiological Variability</a:t>
            </a: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Personalized, context-aware baseline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  <a:t>Missing / Unreliable Data</a:t>
            </a: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Quality-aware fusion + abstention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  <a:t>Intermittent Connectivity</a:t>
            </a: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On-device processing &amp; local storage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6480575" y="642188"/>
            <a:ext cx="2486100" cy="36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7375E"/>
                </a:solidFill>
              </a:rPr>
              <a:t>ECONOMIC VIABILITY</a:t>
            </a:r>
            <a:endParaRPr b="1" sz="1700">
              <a:solidFill>
                <a:srgbClr val="17375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  <a:t>Low Infrastructure Cost</a:t>
            </a: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Uses existing smartphones and wearables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  <a:t>Minimal Cloud Dependency</a:t>
            </a: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Local processing reduces backend requirements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  <a:t>Scalable Architecture</a:t>
            </a: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-Supports different wearable devices and sensor sets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  <a:t>Practical Value</a:t>
            </a:r>
            <a:br>
              <a:rPr b="1" lang="en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-Early warning + continuous personalized monitoring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1469225" y="44050"/>
            <a:ext cx="6033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75E"/>
                </a:solidFill>
              </a:rPr>
              <a:t>FEASIBILITY AND VIABILITY</a:t>
            </a:r>
            <a:endParaRPr b="1" sz="2400">
              <a:solidFill>
                <a:srgbClr val="17375E"/>
              </a:solidFill>
            </a:endParaRPr>
          </a:p>
        </p:txBody>
      </p:sp>
      <p:pic>
        <p:nvPicPr>
          <p:cNvPr id="140" name="Google Shape;14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0735" y="0"/>
            <a:ext cx="1333265" cy="6306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Your startup LOGO" id="141" name="Google Shape;141;p16"/>
          <p:cNvSpPr/>
          <p:nvPr/>
        </p:nvSpPr>
        <p:spPr>
          <a:xfrm>
            <a:off x="83725" y="32450"/>
            <a:ext cx="992700" cy="5541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  <a:t>DraftZero</a:t>
            </a:r>
            <a:endParaRPr b="0" i="0" sz="1200" u="none" cap="none" strike="noStrike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/>
          <p:nvPr/>
        </p:nvSpPr>
        <p:spPr>
          <a:xfrm>
            <a:off x="0" y="4867800"/>
            <a:ext cx="9144000" cy="2739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373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>
            <p:ph type="title"/>
          </p:nvPr>
        </p:nvSpPr>
        <p:spPr>
          <a:xfrm>
            <a:off x="609325" y="219581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700">
                <a:solidFill>
                  <a:srgbClr val="17375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>
              <a:solidFill>
                <a:srgbClr val="17375E"/>
              </a:solidFill>
            </a:endParaRPr>
          </a:p>
        </p:txBody>
      </p:sp>
      <p:sp>
        <p:nvSpPr>
          <p:cNvPr id="149" name="Google Shape;149;p17"/>
          <p:cNvSpPr txBox="1"/>
          <p:nvPr>
            <p:ph idx="12" type="sldNum"/>
          </p:nvPr>
        </p:nvSpPr>
        <p:spPr>
          <a:xfrm>
            <a:off x="6626175" y="49338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fld id="{00000000-1234-1234-1234-123412341234}" type="slidenum">
              <a:rPr b="1" i="0" lang="en" sz="9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0" name="Google Shape;150;p17"/>
          <p:cNvSpPr txBox="1"/>
          <p:nvPr>
            <p:ph idx="11" type="ftr"/>
          </p:nvPr>
        </p:nvSpPr>
        <p:spPr>
          <a:xfrm>
            <a:off x="3522625" y="4867828"/>
            <a:ext cx="240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51" name="Google Shape;151;p17"/>
          <p:cNvSpPr/>
          <p:nvPr/>
        </p:nvSpPr>
        <p:spPr>
          <a:xfrm>
            <a:off x="247325" y="145724"/>
            <a:ext cx="983700" cy="6489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  <a:t>DraftZero</a:t>
            </a:r>
            <a:endParaRPr b="0" i="0" sz="1200" u="none" cap="none" strike="noStrike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62850" y="1242288"/>
            <a:ext cx="5249400" cy="3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7375E"/>
                </a:solidFill>
              </a:rPr>
              <a:t>Early Detection</a:t>
            </a:r>
            <a:endParaRPr b="1" sz="1100">
              <a:solidFill>
                <a:srgbClr val="17375E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Detects deviations from personal health baselines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Identifies heat stress, dehydration, respiratory risk &amp; fatigue early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Enables preventive action before emergencies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7375E"/>
                </a:solidFill>
              </a:rPr>
              <a:t> Environmental Resilience</a:t>
            </a:r>
            <a:endParaRPr b="1" sz="1100">
              <a:solidFill>
                <a:srgbClr val="17375E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Combines vitals with temperature, humidity, AQI, weather &amp; disaster data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Evaluates health in context of the environment and activity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Supports users during heat waves, pollution &amp; disasters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7375E"/>
                </a:solidFill>
              </a:rPr>
              <a:t> Privacy-Preserving</a:t>
            </a:r>
            <a:endParaRPr b="1" sz="1100">
              <a:solidFill>
                <a:srgbClr val="17375E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On-device monitoring and AI inference.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Minimizes exposure of raw health data.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Enables monitoring with no cloud dependency (is this true)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5056225" y="1242288"/>
            <a:ext cx="41460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7375E"/>
                </a:solidFill>
              </a:rPr>
              <a:t> Personalized Health</a:t>
            </a:r>
            <a:endParaRPr b="1" sz="1100">
              <a:solidFill>
                <a:srgbClr val="17375E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Learns separate baselines for sleep, idle &amp; exercise customised to you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Adapts to individual physiological patterns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Reduces reliance on generic thresholds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2"/>
                </a:solidFill>
              </a:rPr>
              <a:t> </a:t>
            </a:r>
            <a:r>
              <a:rPr b="1" lang="en" sz="1100">
                <a:solidFill>
                  <a:srgbClr val="17375E"/>
                </a:solidFill>
              </a:rPr>
              <a:t>Explainable AI</a:t>
            </a:r>
            <a:endParaRPr b="1" sz="1100">
              <a:solidFill>
                <a:srgbClr val="17375E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Shows why a risk was detected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Identifies key physiological &amp; environmental factors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Provides actionable recommendations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F497D"/>
                </a:solidFill>
              </a:rPr>
              <a:t> Emergency Safety</a:t>
            </a:r>
            <a:endParaRPr b="1" sz="1100">
              <a:solidFill>
                <a:srgbClr val="1F497D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Escalates alerts based on risk severity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Supports fall detection, SOS &amp; caregiver notification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Enables faster emergency response</a:t>
            </a:r>
            <a:endParaRPr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116450" y="1144275"/>
            <a:ext cx="8939100" cy="3558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55" name="Google Shape;15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0735" y="0"/>
            <a:ext cx="1333265" cy="63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/>
          <p:nvPr/>
        </p:nvSpPr>
        <p:spPr>
          <a:xfrm>
            <a:off x="4801400" y="1011775"/>
            <a:ext cx="4278600" cy="3697200"/>
          </a:xfrm>
          <a:prstGeom prst="roundRect">
            <a:avLst>
              <a:gd fmla="val 2758" name="adj"/>
            </a:avLst>
          </a:prstGeom>
          <a:solidFill>
            <a:srgbClr val="F0F0F0"/>
          </a:solidFill>
          <a:ln cap="flat" cmpd="sng" w="9525">
            <a:solidFill>
              <a:srgbClr val="898989"/>
            </a:solidFill>
            <a:prstDash val="solid"/>
            <a:round/>
            <a:headEnd len="sm" w="sm" type="none"/>
            <a:tailEnd len="sm" w="sm" type="none"/>
          </a:ln>
          <a:effectLst>
            <a:outerShdw blurRad="142875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110050" y="1011775"/>
            <a:ext cx="4509300" cy="3697200"/>
          </a:xfrm>
          <a:prstGeom prst="roundRect">
            <a:avLst>
              <a:gd fmla="val 2863" name="adj"/>
            </a:avLst>
          </a:prstGeom>
          <a:solidFill>
            <a:srgbClr val="F0F0F0"/>
          </a:solidFill>
          <a:ln cap="flat" cmpd="sng" w="9525">
            <a:solidFill>
              <a:srgbClr val="898989"/>
            </a:solidFill>
            <a:prstDash val="solid"/>
            <a:round/>
            <a:headEnd len="sm" w="sm" type="none"/>
            <a:tailEnd len="sm" w="sm" type="none"/>
          </a:ln>
          <a:effectLst>
            <a:outerShdw blurRad="142875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63" name="Google Shape;163;p18"/>
          <p:cNvSpPr/>
          <p:nvPr/>
        </p:nvSpPr>
        <p:spPr>
          <a:xfrm>
            <a:off x="247325" y="145724"/>
            <a:ext cx="983700" cy="6489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  <a:t>DraftZero</a:t>
            </a:r>
            <a:endParaRPr b="0" i="0" sz="1200" u="none" cap="none" strike="noStrike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0" y="4766072"/>
            <a:ext cx="9144000" cy="3774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12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>
            <p:ph type="title"/>
          </p:nvPr>
        </p:nvSpPr>
        <p:spPr>
          <a:xfrm>
            <a:off x="457200" y="-3571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700">
                <a:solidFill>
                  <a:srgbClr val="17375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>
              <a:solidFill>
                <a:srgbClr val="17375E"/>
              </a:solidFill>
            </a:endParaRPr>
          </a:p>
        </p:txBody>
      </p:sp>
      <p:sp>
        <p:nvSpPr>
          <p:cNvPr id="166" name="Google Shape;166;p18"/>
          <p:cNvSpPr txBox="1"/>
          <p:nvPr>
            <p:ph idx="12" type="sldNum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fld id="{00000000-1234-1234-1234-123412341234}" type="slidenum">
              <a:rPr b="1" i="0" lang="en" sz="9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7" name="Google Shape;167;p18"/>
          <p:cNvSpPr txBox="1"/>
          <p:nvPr>
            <p:ph idx="11" type="ftr"/>
          </p:nvPr>
        </p:nvSpPr>
        <p:spPr>
          <a:xfrm>
            <a:off x="3486150" y="4767265"/>
            <a:ext cx="240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181300" y="950950"/>
            <a:ext cx="4438200" cy="55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1" lang="en" sz="13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Modeling personalized heart rate response to exercise and environmental factors with wearables data</a:t>
            </a:r>
            <a:endParaRPr b="1" sz="13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Achille Nazaret, Sana Tonekaboni, Gregory Darnell, et al.,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Calibri"/>
                <a:ea typeface="Calibri"/>
                <a:cs typeface="Calibri"/>
                <a:sym typeface="Calibri"/>
              </a:rPr>
              <a:t>DOI : 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10.1038/s41746-023-00926-4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1" lang="en" sz="13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 review on multi-sensor data fusion for wearable health monitoring</a:t>
            </a:r>
            <a:endParaRPr b="1" sz="13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Arlene John, Alex P. James, Barry Cardiff, Deepu John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DOI :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10.1016/j.inffus.2026.104319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1" lang="en" sz="13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Data Analytics of a Wearable Device for Heat Stroke Detection</a:t>
            </a:r>
            <a:endParaRPr b="1" sz="13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Shih-Sung Lin, Chien-Wu Lan, Hao-Yen Hsu, Sheng-Tao Chen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Calibri"/>
                <a:ea typeface="Calibri"/>
                <a:cs typeface="Calibri"/>
                <a:sym typeface="Calibri"/>
              </a:rPr>
              <a:t>DOI : 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10.3390/s18124347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1" lang="en" sz="13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Towards On-Device Dehydration Monitoring Using Machine Learning from Wearable Device’s Data</a:t>
            </a:r>
            <a:endParaRPr b="1" sz="13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Farida Sabry, Tamer Eltaras, Wadha Labda, et al.,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DOI :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10.3390/s22051887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4865900" y="1011775"/>
            <a:ext cx="4149600" cy="55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1" lang="en" sz="12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TeleXAI-R: A Real-Time Explainable AI Model for Remote Patient Risk Stratification Using IoT-Integrated Consumer Devices</a:t>
            </a:r>
            <a:endParaRPr b="1" sz="12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Jing Yang, Jialin Dai, Xinyi Tang, et al.,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DOI :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10.1109/TCE.2025.3644166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</a:t>
            </a:r>
            <a:r>
              <a:rPr b="1" lang="en" sz="12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From Sensing to Sense-Making: A Framework for On-Person Intelligence with Wearable Biosensors and Edge LLMs</a:t>
            </a:r>
            <a:endParaRPr b="1" sz="12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Tad T. Brunyé, Mitchell V. Petrimoulx, Julie A. Cantelon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DOI :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10.3390/s26072034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DATASETS :</a:t>
            </a:r>
            <a:endParaRPr b="1"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b="1" lang="en" sz="12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PPG-DaLiA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Physiological forecasting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2. TILES-2018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Personal/Contextual modelling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3. Wearable Dehydration Dataset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Dehydration model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4. Construction Heat-Stress Dataset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Heat-Stress model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0735" y="0"/>
            <a:ext cx="1333265" cy="63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