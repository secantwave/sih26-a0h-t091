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Oswald Medium"/>
      <p:regular r:id="rId12"/>
      <p:bold r:id="rId13"/>
    </p:embeddedFont>
    <p:embeddedFont>
      <p:font typeface="Garamond"/>
      <p:regular r:id="rId14"/>
      <p:bold r:id="rId15"/>
      <p:italic r:id="rId16"/>
      <p:boldItalic r:id="rId17"/>
    </p:embeddedFont>
    <p:embeddedFont>
      <p:font typeface="Oswal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swaldMedium-bold.fntdata"/><Relationship Id="rId12" Type="http://schemas.openxmlformats.org/officeDocument/2006/relationships/font" Target="fonts/Oswald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bold.fntdata"/><Relationship Id="rId14" Type="http://schemas.openxmlformats.org/officeDocument/2006/relationships/font" Target="fonts/Garamond-regular.fntdata"/><Relationship Id="rId17" Type="http://schemas.openxmlformats.org/officeDocument/2006/relationships/font" Target="fonts/Garamond-boldItalic.fntdata"/><Relationship Id="rId16" Type="http://schemas.openxmlformats.org/officeDocument/2006/relationships/font" Target="fonts/Garamond-italic.fntdata"/><Relationship Id="rId5" Type="http://schemas.openxmlformats.org/officeDocument/2006/relationships/notesMaster" Target="notesMasters/notesMaster1.xml"/><Relationship Id="rId19" Type="http://schemas.openxmlformats.org/officeDocument/2006/relationships/font" Target="fonts/Oswald-bold.fntdata"/><Relationship Id="rId6" Type="http://schemas.openxmlformats.org/officeDocument/2006/relationships/slide" Target="slides/slide1.xml"/><Relationship Id="rId18"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8" name="Google Shape;10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9" name="Google Shape;10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0" name="Google Shape;12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1" name="Google Shape;121;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7e0eb9333_1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7" name="Google Shape;137;g387e0eb9333_1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387e0eb9333_1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0" name="Google Shape;15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1" name="Google Shape;15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1597821"/>
            <a:ext cx="7772400" cy="1102519"/>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3" name="Google Shape;13;p2"/>
          <p:cNvSpPr txBox="1"/>
          <p:nvPr>
            <p:ph idx="1" type="subTitle"/>
          </p:nvPr>
        </p:nvSpPr>
        <p:spPr>
          <a:xfrm>
            <a:off x="1371600" y="2914650"/>
            <a:ext cx="6400800" cy="131445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4" name="Google Shape;14;p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9" name="Google Shape;19;p3"/>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20" name="Google Shape;20;p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3305177"/>
            <a:ext cx="7772400" cy="1021556"/>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b="1" sz="3000" cap="none"/>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25" name="Google Shape;25;p4"/>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26" name="Google Shape;26;p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 name="Google Shape;27;p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31" name="Google Shape;31;p5"/>
          <p:cNvSpPr txBox="1"/>
          <p:nvPr>
            <p:ph idx="1" type="body"/>
          </p:nvPr>
        </p:nvSpPr>
        <p:spPr>
          <a:xfrm>
            <a:off x="457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32" name="Google Shape;32;p5"/>
          <p:cNvSpPr txBox="1"/>
          <p:nvPr>
            <p:ph idx="2" type="body"/>
          </p:nvPr>
        </p:nvSpPr>
        <p:spPr>
          <a:xfrm>
            <a:off x="4648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33" name="Google Shape;33;p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38" name="Google Shape;38;p6"/>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39" name="Google Shape;39;p6"/>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40" name="Google Shape;40;p6"/>
          <p:cNvSpPr txBox="1"/>
          <p:nvPr>
            <p:ph idx="3" type="body"/>
          </p:nvPr>
        </p:nvSpPr>
        <p:spPr>
          <a:xfrm>
            <a:off x="4645027"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41" name="Google Shape;41;p6"/>
          <p:cNvSpPr txBox="1"/>
          <p:nvPr>
            <p:ph idx="4" type="body"/>
          </p:nvPr>
        </p:nvSpPr>
        <p:spPr>
          <a:xfrm>
            <a:off x="4645027"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42" name="Google Shape;42;p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47" name="Google Shape;47;p7"/>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7"/>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8"/>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56" name="Google Shape;56;p9"/>
          <p:cNvSpPr txBox="1"/>
          <p:nvPr>
            <p:ph idx="1" type="body"/>
          </p:nvPr>
        </p:nvSpPr>
        <p:spPr>
          <a:xfrm>
            <a:off x="3575050" y="204790"/>
            <a:ext cx="5111750" cy="4389835"/>
          </a:xfrm>
          <a:prstGeom prst="rect">
            <a:avLst/>
          </a:prstGeom>
          <a:noFill/>
          <a:ln>
            <a:noFill/>
          </a:ln>
        </p:spPr>
        <p:txBody>
          <a:bodyPr anchorCtr="0" anchor="t" bIns="34275" lIns="68575" spcFirstLastPara="1" rIns="68575" wrap="square" tIns="34275">
            <a:no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7" name="Google Shape;57;p9"/>
          <p:cNvSpPr txBox="1"/>
          <p:nvPr>
            <p:ph idx="2" type="body"/>
          </p:nvPr>
        </p:nvSpPr>
        <p:spPr>
          <a:xfrm>
            <a:off x="457201" y="1076327"/>
            <a:ext cx="3008313" cy="351829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58" name="Google Shape;58;p9"/>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9"/>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63" name="Google Shape;63;p10"/>
          <p:cNvSpPr/>
          <p:nvPr>
            <p:ph idx="2" type="pic"/>
          </p:nvPr>
        </p:nvSpPr>
        <p:spPr>
          <a:xfrm>
            <a:off x="1792288" y="459581"/>
            <a:ext cx="5486400" cy="3086100"/>
          </a:xfrm>
          <a:prstGeom prst="rect">
            <a:avLst/>
          </a:prstGeom>
          <a:noFill/>
          <a:ln>
            <a:noFill/>
          </a:ln>
        </p:spPr>
      </p:sp>
      <p:sp>
        <p:nvSpPr>
          <p:cNvPr id="64" name="Google Shape;64;p10"/>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65" name="Google Shape;65;p10"/>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0"/>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70" name="Google Shape;70;p11"/>
          <p:cNvSpPr txBox="1"/>
          <p:nvPr>
            <p:ph idx="1" type="body"/>
          </p:nvPr>
        </p:nvSpPr>
        <p:spPr>
          <a:xfrm rot="5400000">
            <a:off x="2685455" y="-1406723"/>
            <a:ext cx="3773091" cy="82296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71" name="Google Shape;71;p1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463778" y="1371603"/>
            <a:ext cx="4388644" cy="20574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76" name="Google Shape;76;p12"/>
          <p:cNvSpPr txBox="1"/>
          <p:nvPr>
            <p:ph idx="1" type="body"/>
          </p:nvPr>
        </p:nvSpPr>
        <p:spPr>
          <a:xfrm rot="5400000">
            <a:off x="1272778" y="-609597"/>
            <a:ext cx="4388644" cy="60198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77" name="Google Shape;77;p1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1pPr>
            <a:lvl2pPr lvl="1"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2pPr>
            <a:lvl3pPr lvl="2"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3pPr>
            <a:lvl4pPr lvl="3"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4pPr>
            <a:lvl5pPr lvl="4"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5pPr>
            <a:lvl6pPr lvl="5"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6pPr>
            <a:lvl7pPr lvl="6"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7pPr>
            <a:lvl8pPr lvl="7"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8pPr>
            <a:lvl9pPr lvl="8"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9pPr>
          </a:lstStyle>
          <a:p/>
        </p:txBody>
      </p:sp>
      <p:sp>
        <p:nvSpPr>
          <p:cNvPr id="7" name="Google Shape;7;p1"/>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Oswald"/>
                <a:ea typeface="Oswald"/>
                <a:cs typeface="Oswald"/>
                <a:sym typeface="Oswald"/>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Oswald"/>
                <a:ea typeface="Oswald"/>
                <a:cs typeface="Oswald"/>
                <a:sym typeface="Oswald"/>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98989"/>
                </a:solidFill>
                <a:latin typeface="Oswald"/>
                <a:ea typeface="Oswald"/>
                <a:cs typeface="Oswald"/>
                <a:sym typeface="Oswald"/>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Oswald"/>
                <a:ea typeface="Oswald"/>
                <a:cs typeface="Oswald"/>
                <a:sym typeface="Oswald"/>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3"/>
          <p:cNvSpPr/>
          <p:nvPr/>
        </p:nvSpPr>
        <p:spPr>
          <a:xfrm>
            <a:off x="5112511" y="638650"/>
            <a:ext cx="3525339" cy="3866225"/>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118"/>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85" name="Google Shape;85;p13"/>
          <p:cNvPicPr preferRelativeResize="0"/>
          <p:nvPr/>
        </p:nvPicPr>
        <p:blipFill rotWithShape="1">
          <a:blip r:embed="rId3">
            <a:alphaModFix/>
          </a:blip>
          <a:srcRect b="0" l="0" r="59916" t="0"/>
          <a:stretch/>
        </p:blipFill>
        <p:spPr>
          <a:xfrm>
            <a:off x="6032886" y="1653341"/>
            <a:ext cx="2402632" cy="2569678"/>
          </a:xfrm>
          <a:prstGeom prst="rect">
            <a:avLst/>
          </a:prstGeom>
          <a:noFill/>
          <a:ln>
            <a:noFill/>
          </a:ln>
        </p:spPr>
      </p:pic>
      <p:sp>
        <p:nvSpPr>
          <p:cNvPr id="86" name="Google Shape;86;p13"/>
          <p:cNvSpPr txBox="1"/>
          <p:nvPr>
            <p:ph type="ctrTitle"/>
          </p:nvPr>
        </p:nvSpPr>
        <p:spPr>
          <a:xfrm>
            <a:off x="-108742" y="192147"/>
            <a:ext cx="7772400" cy="8151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 sz="3200">
                <a:solidFill>
                  <a:schemeClr val="dk2"/>
                </a:solidFill>
                <a:latin typeface="Garamond"/>
                <a:ea typeface="Garamond"/>
                <a:cs typeface="Garamond"/>
                <a:sym typeface="Garamond"/>
              </a:rPr>
              <a:t>SMART INDIA HACKATHON 2026</a:t>
            </a:r>
            <a:endParaRPr b="1" sz="3200">
              <a:solidFill>
                <a:schemeClr val="dk2"/>
              </a:solidFill>
              <a:latin typeface="Garamond"/>
              <a:ea typeface="Garamond"/>
              <a:cs typeface="Garamond"/>
              <a:sym typeface="Garamond"/>
            </a:endParaRPr>
          </a:p>
          <a:p>
            <a:pPr indent="0" lvl="0" marL="0" rtl="0" algn="ctr">
              <a:lnSpc>
                <a:spcPct val="100000"/>
              </a:lnSpc>
              <a:spcBef>
                <a:spcPts val="0"/>
              </a:spcBef>
              <a:spcAft>
                <a:spcPts val="0"/>
              </a:spcAft>
              <a:buSzPts val="1100"/>
              <a:buNone/>
            </a:pPr>
            <a:r>
              <a:t/>
            </a:r>
            <a:endParaRPr b="1" sz="3200">
              <a:solidFill>
                <a:schemeClr val="dk2"/>
              </a:solidFill>
              <a:latin typeface="Garamond"/>
              <a:ea typeface="Garamond"/>
              <a:cs typeface="Garamond"/>
              <a:sym typeface="Garamond"/>
            </a:endParaRPr>
          </a:p>
        </p:txBody>
      </p:sp>
      <p:sp>
        <p:nvSpPr>
          <p:cNvPr id="87" name="Google Shape;87;p13"/>
          <p:cNvSpPr txBox="1"/>
          <p:nvPr/>
        </p:nvSpPr>
        <p:spPr>
          <a:xfrm>
            <a:off x="-252675" y="1521643"/>
            <a:ext cx="5721600" cy="2701200"/>
          </a:xfrm>
          <a:prstGeom prst="rect">
            <a:avLst/>
          </a:prstGeom>
          <a:noFill/>
          <a:ln>
            <a:noFill/>
          </a:ln>
        </p:spPr>
        <p:txBody>
          <a:bodyPr anchorCtr="0" anchor="t" bIns="34275" lIns="68575" spcFirstLastPara="1" rIns="68575" wrap="square" tIns="34275">
            <a:spAutoFit/>
          </a:bodyPr>
          <a:lstStyle/>
          <a:p>
            <a:pPr indent="0" lvl="0" marL="457200" marR="0" rtl="0" algn="just">
              <a:lnSpc>
                <a:spcPct val="100000"/>
              </a:lnSpc>
              <a:spcBef>
                <a:spcPts val="0"/>
              </a:spcBef>
              <a:spcAft>
                <a:spcPts val="0"/>
              </a:spcAft>
              <a:buNone/>
            </a:pPr>
            <a:r>
              <a:rPr b="1" lang="en" sz="1900">
                <a:solidFill>
                  <a:srgbClr val="0C57D3"/>
                </a:solidFill>
                <a:latin typeface="Calibri"/>
                <a:ea typeface="Calibri"/>
                <a:cs typeface="Calibri"/>
                <a:sym typeface="Calibri"/>
              </a:rPr>
              <a:t>TeamID</a:t>
            </a:r>
            <a:r>
              <a:rPr b="1" lang="en" sz="1900">
                <a:solidFill>
                  <a:srgbClr val="0C57D3"/>
                </a:solidFill>
                <a:latin typeface="Calibri"/>
                <a:ea typeface="Calibri"/>
                <a:cs typeface="Calibri"/>
                <a:sym typeface="Calibri"/>
              </a:rPr>
              <a:t>: </a:t>
            </a:r>
            <a:r>
              <a:rPr b="1" lang="en" sz="1900">
                <a:solidFill>
                  <a:schemeClr val="dk1"/>
                </a:solidFill>
                <a:latin typeface="Calibri"/>
                <a:ea typeface="Calibri"/>
                <a:cs typeface="Calibri"/>
                <a:sym typeface="Calibri"/>
              </a:rPr>
              <a:t>SIH</a:t>
            </a:r>
            <a:r>
              <a:rPr b="1" lang="en" sz="1900">
                <a:solidFill>
                  <a:schemeClr val="dk1"/>
                </a:solidFill>
                <a:latin typeface="Calibri"/>
                <a:ea typeface="Calibri"/>
                <a:cs typeface="Calibri"/>
                <a:sym typeface="Calibri"/>
              </a:rPr>
              <a:t>-A0H-T091</a:t>
            </a:r>
            <a:br>
              <a:rPr b="1" lang="en" sz="1900">
                <a:solidFill>
                  <a:schemeClr val="dk1"/>
                </a:solidFill>
                <a:latin typeface="Calibri"/>
                <a:ea typeface="Calibri"/>
                <a:cs typeface="Calibri"/>
                <a:sym typeface="Calibri"/>
              </a:rPr>
            </a:br>
            <a:r>
              <a:rPr b="1" i="0" lang="en" sz="1900" u="none" cap="none" strike="noStrike">
                <a:solidFill>
                  <a:srgbClr val="0C57D3"/>
                </a:solidFill>
                <a:latin typeface="Calibri"/>
                <a:ea typeface="Calibri"/>
                <a:cs typeface="Calibri"/>
                <a:sym typeface="Calibri"/>
              </a:rPr>
              <a:t>Problem Statement ID</a:t>
            </a:r>
            <a:r>
              <a:rPr b="1" lang="en" sz="1900">
                <a:solidFill>
                  <a:srgbClr val="0C57D3"/>
                </a:solidFill>
                <a:latin typeface="Calibri"/>
                <a:ea typeface="Calibri"/>
                <a:cs typeface="Calibri"/>
                <a:sym typeface="Calibri"/>
              </a:rPr>
              <a:t>: </a:t>
            </a:r>
            <a:r>
              <a:rPr b="1" lang="en" sz="1900">
                <a:solidFill>
                  <a:schemeClr val="dk1"/>
                </a:solidFill>
                <a:latin typeface="Calibri"/>
                <a:ea typeface="Calibri"/>
                <a:cs typeface="Calibri"/>
                <a:sym typeface="Calibri"/>
              </a:rPr>
              <a:t>SIH26025</a:t>
            </a:r>
            <a:endParaRPr b="1" sz="1900">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None/>
            </a:pPr>
            <a:r>
              <a:rPr b="1" i="0" lang="en" sz="1900" u="none" cap="none" strike="noStrike">
                <a:solidFill>
                  <a:srgbClr val="0C57D3"/>
                </a:solidFill>
                <a:latin typeface="Calibri"/>
                <a:ea typeface="Calibri"/>
                <a:cs typeface="Calibri"/>
                <a:sym typeface="Calibri"/>
              </a:rPr>
              <a:t>Problem Statement Title</a:t>
            </a:r>
            <a:r>
              <a:rPr b="1" lang="en" sz="1900">
                <a:solidFill>
                  <a:srgbClr val="0070C0"/>
                </a:solidFill>
                <a:latin typeface="Calibri"/>
                <a:ea typeface="Calibri"/>
                <a:cs typeface="Calibri"/>
                <a:sym typeface="Calibri"/>
              </a:rPr>
              <a:t>: </a:t>
            </a:r>
            <a:r>
              <a:rPr b="1" lang="en" sz="1900">
                <a:solidFill>
                  <a:schemeClr val="dk1"/>
                </a:solidFill>
                <a:latin typeface="Calibri"/>
                <a:ea typeface="Calibri"/>
                <a:cs typeface="Calibri"/>
                <a:sym typeface="Calibri"/>
              </a:rPr>
              <a:t>Development of an AI-enabled Low Cost Real Time Mine Subsidence Monitoring, Prediction and Early Warning System for Underground Coal Mines in India </a:t>
            </a:r>
            <a:endParaRPr b="1" sz="1900">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None/>
            </a:pPr>
            <a:r>
              <a:rPr b="1" i="0" lang="en" sz="1900" u="none" cap="none" strike="noStrike">
                <a:solidFill>
                  <a:srgbClr val="0C57D3"/>
                </a:solidFill>
                <a:latin typeface="Calibri"/>
                <a:ea typeface="Calibri"/>
                <a:cs typeface="Calibri"/>
                <a:sym typeface="Calibri"/>
              </a:rPr>
              <a:t>Theme</a:t>
            </a:r>
            <a:r>
              <a:rPr b="1" lang="en" sz="1900">
                <a:solidFill>
                  <a:srgbClr val="0070C0"/>
                </a:solidFill>
                <a:latin typeface="Calibri"/>
                <a:ea typeface="Calibri"/>
                <a:cs typeface="Calibri"/>
                <a:sym typeface="Calibri"/>
              </a:rPr>
              <a:t>:</a:t>
            </a:r>
            <a:r>
              <a:rPr b="1" lang="en" sz="1900">
                <a:solidFill>
                  <a:schemeClr val="dk1"/>
                </a:solidFill>
                <a:latin typeface="Calibri"/>
                <a:ea typeface="Calibri"/>
                <a:cs typeface="Calibri"/>
                <a:sym typeface="Calibri"/>
              </a:rPr>
              <a:t> Smart Automation</a:t>
            </a:r>
            <a:endParaRPr b="1" sz="1900">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None/>
            </a:pPr>
            <a:r>
              <a:rPr b="1" i="0" lang="en" sz="1900" u="none" cap="none" strike="noStrike">
                <a:solidFill>
                  <a:srgbClr val="0C57D3"/>
                </a:solidFill>
                <a:latin typeface="Calibri"/>
                <a:ea typeface="Calibri"/>
                <a:cs typeface="Calibri"/>
                <a:sym typeface="Calibri"/>
              </a:rPr>
              <a:t>PS Category</a:t>
            </a:r>
            <a:r>
              <a:rPr b="1" lang="en" sz="1900">
                <a:solidFill>
                  <a:srgbClr val="0070C0"/>
                </a:solidFill>
                <a:latin typeface="Calibri"/>
                <a:ea typeface="Calibri"/>
                <a:cs typeface="Calibri"/>
                <a:sym typeface="Calibri"/>
              </a:rPr>
              <a:t>: </a:t>
            </a:r>
            <a:r>
              <a:rPr b="1" lang="en" sz="1900">
                <a:solidFill>
                  <a:schemeClr val="dk1"/>
                </a:solidFill>
                <a:latin typeface="Calibri"/>
                <a:ea typeface="Calibri"/>
                <a:cs typeface="Calibri"/>
                <a:sym typeface="Calibri"/>
              </a:rPr>
              <a:t>Hardware</a:t>
            </a:r>
            <a:endParaRPr b="1" sz="1900">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None/>
            </a:pPr>
            <a:r>
              <a:rPr b="1" i="0" lang="en" sz="1900" u="none" cap="none" strike="noStrike">
                <a:solidFill>
                  <a:srgbClr val="0C57D3"/>
                </a:solidFill>
                <a:latin typeface="Calibri"/>
                <a:ea typeface="Calibri"/>
                <a:cs typeface="Calibri"/>
                <a:sym typeface="Calibri"/>
              </a:rPr>
              <a:t>Team Name (Registered on portal</a:t>
            </a:r>
            <a:r>
              <a:rPr b="1" lang="en" sz="1900">
                <a:solidFill>
                  <a:srgbClr val="0070C0"/>
                </a:solidFill>
                <a:latin typeface="Calibri"/>
                <a:ea typeface="Calibri"/>
                <a:cs typeface="Calibri"/>
                <a:sym typeface="Calibri"/>
              </a:rPr>
              <a:t>): </a:t>
            </a:r>
            <a:r>
              <a:rPr b="1" lang="en" sz="1900">
                <a:solidFill>
                  <a:schemeClr val="dk1"/>
                </a:solidFill>
                <a:latin typeface="Calibri"/>
                <a:ea typeface="Calibri"/>
                <a:cs typeface="Calibri"/>
                <a:sym typeface="Calibri"/>
              </a:rPr>
              <a:t>DraftZero</a:t>
            </a:r>
            <a:endParaRPr b="1" i="0" sz="2100" u="none" cap="none" strike="noStrike">
              <a:solidFill>
                <a:srgbClr val="000000"/>
              </a:solidFill>
              <a:latin typeface="Calibri"/>
              <a:ea typeface="Calibri"/>
              <a:cs typeface="Calibri"/>
              <a:sym typeface="Calibri"/>
            </a:endParaRPr>
          </a:p>
        </p:txBody>
      </p:sp>
      <p:pic>
        <p:nvPicPr>
          <p:cNvPr id="88" name="Google Shape;88;p13"/>
          <p:cNvPicPr preferRelativeResize="0"/>
          <p:nvPr/>
        </p:nvPicPr>
        <p:blipFill>
          <a:blip r:embed="rId4">
            <a:alphaModFix/>
          </a:blip>
          <a:stretch>
            <a:fillRect/>
          </a:stretch>
        </p:blipFill>
        <p:spPr>
          <a:xfrm>
            <a:off x="7420646" y="0"/>
            <a:ext cx="1723354" cy="815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75625" y="3262251"/>
            <a:ext cx="8964000" cy="1457700"/>
          </a:xfrm>
          <a:prstGeom prst="rect">
            <a:avLst/>
          </a:prstGeom>
          <a:noFill/>
          <a:ln cap="flat" cmpd="sng" w="19050">
            <a:solidFill>
              <a:srgbClr val="0070C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descr="Your startup LOGO" id="95" name="Google Shape;95;p14"/>
          <p:cNvSpPr/>
          <p:nvPr/>
        </p:nvSpPr>
        <p:spPr>
          <a:xfrm>
            <a:off x="83725" y="32449"/>
            <a:ext cx="983700" cy="648900"/>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lang="en" sz="1200">
                <a:solidFill>
                  <a:schemeClr val="dk1"/>
                </a:solidFill>
                <a:latin typeface="Oswald Medium"/>
                <a:ea typeface="Oswald Medium"/>
                <a:cs typeface="Oswald Medium"/>
                <a:sym typeface="Oswald Medium"/>
              </a:rPr>
              <a:t>DraftZero</a:t>
            </a:r>
            <a:endParaRPr b="0" i="0" sz="1200" u="none" cap="none" strike="noStrike">
              <a:solidFill>
                <a:schemeClr val="dk1"/>
              </a:solidFill>
              <a:latin typeface="Oswald Medium"/>
              <a:ea typeface="Oswald Medium"/>
              <a:cs typeface="Oswald Medium"/>
              <a:sym typeface="Oswald Medium"/>
            </a:endParaRPr>
          </a:p>
        </p:txBody>
      </p:sp>
      <p:sp>
        <p:nvSpPr>
          <p:cNvPr id="96" name="Google Shape;96;p14"/>
          <p:cNvSpPr/>
          <p:nvPr/>
        </p:nvSpPr>
        <p:spPr>
          <a:xfrm>
            <a:off x="0" y="4766072"/>
            <a:ext cx="9143999" cy="377429"/>
          </a:xfrm>
          <a:prstGeom prst="rect">
            <a:avLst/>
          </a:prstGeom>
          <a:solidFill>
            <a:srgbClr val="0070C0"/>
          </a:solidFill>
          <a:ln>
            <a:noFill/>
          </a:ln>
          <a:effectLst>
            <a:outerShdw rotWithShape="0" dir="5400000" dist="23000">
              <a:srgbClr val="808080">
                <a:alpha val="34118"/>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53734"/>
              </a:solidFill>
              <a:latin typeface="Calibri"/>
              <a:ea typeface="Calibri"/>
              <a:cs typeface="Calibri"/>
              <a:sym typeface="Calibri"/>
            </a:endParaRPr>
          </a:p>
        </p:txBody>
      </p:sp>
      <p:sp>
        <p:nvSpPr>
          <p:cNvPr id="97" name="Google Shape;97;p14"/>
          <p:cNvSpPr txBox="1"/>
          <p:nvPr>
            <p:ph type="title"/>
          </p:nvPr>
        </p:nvSpPr>
        <p:spPr>
          <a:xfrm>
            <a:off x="-41971" y="-114164"/>
            <a:ext cx="9143999" cy="377429"/>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br>
              <a:rPr b="1" lang="en" sz="2700">
                <a:latin typeface="Times New Roman"/>
                <a:ea typeface="Times New Roman"/>
                <a:cs typeface="Times New Roman"/>
                <a:sym typeface="Times New Roman"/>
              </a:rPr>
            </a:br>
            <a:r>
              <a:rPr b="1" lang="en" sz="2700">
                <a:solidFill>
                  <a:srgbClr val="17375E"/>
                </a:solidFill>
                <a:latin typeface="Times New Roman"/>
                <a:ea typeface="Times New Roman"/>
                <a:cs typeface="Times New Roman"/>
                <a:sym typeface="Times New Roman"/>
              </a:rPr>
              <a:t>MINEGUARD</a:t>
            </a:r>
            <a:br>
              <a:rPr b="1" lang="en" sz="2700">
                <a:latin typeface="Times New Roman"/>
                <a:ea typeface="Times New Roman"/>
                <a:cs typeface="Times New Roman"/>
                <a:sym typeface="Times New Roman"/>
              </a:rPr>
            </a:br>
            <a:r>
              <a:rPr lang="en" sz="1400">
                <a:latin typeface="Times New Roman"/>
                <a:ea typeface="Times New Roman"/>
                <a:cs typeface="Times New Roman"/>
                <a:sym typeface="Times New Roman"/>
              </a:rPr>
              <a:t>AI-Enabled Real-Time Mine Subsidence Monitoring &amp; Early Warning System</a:t>
            </a:r>
            <a:endParaRPr b="1" sz="2700">
              <a:latin typeface="Times New Roman"/>
              <a:ea typeface="Times New Roman"/>
              <a:cs typeface="Times New Roman"/>
              <a:sym typeface="Times New Roman"/>
            </a:endParaRPr>
          </a:p>
        </p:txBody>
      </p:sp>
      <p:sp>
        <p:nvSpPr>
          <p:cNvPr id="98" name="Google Shape;98;p1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1100"/>
              <a:buNone/>
            </a:pPr>
            <a:fld id="{00000000-1234-1234-1234-123412341234}" type="slidenum">
              <a:rPr b="1" lang="en" sz="1100">
                <a:solidFill>
                  <a:schemeClr val="lt1"/>
                </a:solidFill>
              </a:rPr>
              <a:t>‹#›</a:t>
            </a:fld>
            <a:endParaRPr b="1" sz="1100">
              <a:solidFill>
                <a:schemeClr val="lt1"/>
              </a:solidFill>
            </a:endParaRPr>
          </a:p>
        </p:txBody>
      </p:sp>
      <p:sp>
        <p:nvSpPr>
          <p:cNvPr id="99" name="Google Shape;99;p14"/>
          <p:cNvSpPr txBox="1"/>
          <p:nvPr>
            <p:ph idx="11" type="ftr"/>
          </p:nvPr>
        </p:nvSpPr>
        <p:spPr>
          <a:xfrm>
            <a:off x="3486150" y="4767265"/>
            <a:ext cx="2403000" cy="273844"/>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 sz="1100">
                <a:solidFill>
                  <a:schemeClr val="lt1"/>
                </a:solidFill>
              </a:rPr>
              <a:t>@SIH Idea submission- Template</a:t>
            </a:r>
            <a:endParaRPr sz="1100">
              <a:solidFill>
                <a:schemeClr val="lt1"/>
              </a:solidFill>
            </a:endParaRPr>
          </a:p>
        </p:txBody>
      </p:sp>
      <p:sp>
        <p:nvSpPr>
          <p:cNvPr id="100" name="Google Shape;100;p14"/>
          <p:cNvSpPr/>
          <p:nvPr/>
        </p:nvSpPr>
        <p:spPr>
          <a:xfrm>
            <a:off x="83725" y="708225"/>
            <a:ext cx="4554900" cy="2525700"/>
          </a:xfrm>
          <a:prstGeom prst="rect">
            <a:avLst/>
          </a:prstGeom>
          <a:noFill/>
          <a:ln cap="flat" cmpd="sng" w="19050">
            <a:solidFill>
              <a:srgbClr val="0070C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01" name="Google Shape;101;p14"/>
          <p:cNvSpPr txBox="1"/>
          <p:nvPr/>
        </p:nvSpPr>
        <p:spPr>
          <a:xfrm>
            <a:off x="135325" y="597038"/>
            <a:ext cx="4451700" cy="263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u="sng" cap="none" strike="noStrike">
                <a:solidFill>
                  <a:srgbClr val="17375E"/>
                </a:solidFill>
                <a:latin typeface="Calibri"/>
                <a:ea typeface="Calibri"/>
                <a:cs typeface="Calibri"/>
                <a:sym typeface="Calibri"/>
              </a:rPr>
              <a:t>Proposed Solution:</a:t>
            </a:r>
            <a:endParaRPr b="1" i="0" u="sng" cap="none" strike="noStrike">
              <a:solidFill>
                <a:srgbClr val="17375E"/>
              </a:solidFill>
              <a:latin typeface="Calibri"/>
              <a:ea typeface="Calibri"/>
              <a:cs typeface="Calibri"/>
              <a:sym typeface="Calibri"/>
            </a:endParaRPr>
          </a:p>
          <a:p>
            <a:pPr indent="0" lvl="0" marL="0" marR="0" rtl="0" algn="l">
              <a:lnSpc>
                <a:spcPct val="100000"/>
              </a:lnSpc>
              <a:spcBef>
                <a:spcPts val="0"/>
              </a:spcBef>
              <a:spcAft>
                <a:spcPts val="0"/>
              </a:spcAft>
              <a:buNone/>
            </a:pPr>
            <a:r>
              <a:rPr lang="en" sz="1200">
                <a:solidFill>
                  <a:schemeClr val="dk1"/>
                </a:solidFill>
                <a:latin typeface="Calibri"/>
                <a:ea typeface="Calibri"/>
                <a:cs typeface="Calibri"/>
                <a:sym typeface="Calibri"/>
              </a:rPr>
              <a:t>A low-cost wireless surface mesh deployed over underground coal mine panels to monitor tilt, displacement, cracks, and vibration in real time. Sensor data is analyzed using AI to detect abnormal ground movement and generate GIS-based risk zones and early warnings.</a:t>
            </a:r>
            <a:r>
              <a:rPr lang="en" sz="1100">
                <a:solidFill>
                  <a:schemeClr val="dk1"/>
                </a:solidFill>
              </a:rPr>
              <a:t> </a:t>
            </a:r>
            <a:endParaRPr sz="13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 u="sng">
                <a:solidFill>
                  <a:srgbClr val="17375E"/>
                </a:solidFill>
                <a:latin typeface="Calibri"/>
                <a:ea typeface="Calibri"/>
                <a:cs typeface="Calibri"/>
                <a:sym typeface="Calibri"/>
              </a:rPr>
              <a:t>F</a:t>
            </a:r>
            <a:r>
              <a:rPr b="1" lang="en" u="sng">
                <a:solidFill>
                  <a:srgbClr val="17375E"/>
                </a:solidFill>
                <a:latin typeface="Calibri"/>
                <a:ea typeface="Calibri"/>
                <a:cs typeface="Calibri"/>
                <a:sym typeface="Calibri"/>
              </a:rPr>
              <a:t>eatures:</a:t>
            </a:r>
            <a:endParaRPr b="1" u="sng">
              <a:solidFill>
                <a:srgbClr val="17375E"/>
              </a:solidFill>
              <a:latin typeface="Calibri"/>
              <a:ea typeface="Calibri"/>
              <a:cs typeface="Calibri"/>
              <a:sym typeface="Calibri"/>
            </a:endParaRPr>
          </a:p>
          <a:p>
            <a:pPr indent="-311150" lvl="0" marL="285750" rtl="0" algn="l">
              <a:lnSpc>
                <a:spcPct val="115000"/>
              </a:lnSpc>
              <a:spcBef>
                <a:spcPts val="0"/>
              </a:spcBef>
              <a:spcAft>
                <a:spcPts val="0"/>
              </a:spcAft>
              <a:buSzPts val="1300"/>
              <a:buFont typeface="Calibri"/>
              <a:buChar char="➔"/>
            </a:pPr>
            <a:r>
              <a:rPr b="1" lang="en" sz="1250">
                <a:solidFill>
                  <a:srgbClr val="0070C0"/>
                </a:solidFill>
                <a:latin typeface="Calibri"/>
                <a:ea typeface="Calibri"/>
                <a:cs typeface="Calibri"/>
                <a:sym typeface="Calibri"/>
              </a:rPr>
              <a:t>Smart Detection &amp; Prediction:</a:t>
            </a:r>
            <a:r>
              <a:rPr lang="en" sz="1100">
                <a:solidFill>
                  <a:schemeClr val="dk1"/>
                </a:solidFill>
              </a:rPr>
              <a:t> Combines tilt, displacement, crack, and vibration data with AI to detect abnormal ground movement and estimate subsidence risk.</a:t>
            </a:r>
            <a:endParaRPr sz="1100">
              <a:solidFill>
                <a:schemeClr val="dk1"/>
              </a:solidFill>
            </a:endParaRPr>
          </a:p>
          <a:p>
            <a:pPr indent="-311150" lvl="0" marL="285750" rtl="0" algn="l">
              <a:lnSpc>
                <a:spcPct val="115000"/>
              </a:lnSpc>
              <a:spcBef>
                <a:spcPts val="0"/>
              </a:spcBef>
              <a:spcAft>
                <a:spcPts val="0"/>
              </a:spcAft>
              <a:buSzPts val="1300"/>
              <a:buFont typeface="Calibri"/>
              <a:buChar char="➔"/>
            </a:pPr>
            <a:r>
              <a:rPr b="1" lang="en" sz="1250">
                <a:solidFill>
                  <a:srgbClr val="0070C0"/>
                </a:solidFill>
                <a:latin typeface="Calibri"/>
                <a:ea typeface="Calibri"/>
                <a:cs typeface="Calibri"/>
                <a:sym typeface="Calibri"/>
              </a:rPr>
              <a:t>Connected Monitoring &amp; Alerts:</a:t>
            </a:r>
            <a:r>
              <a:rPr lang="en" sz="1100">
                <a:solidFill>
                  <a:schemeClr val="dk1"/>
                </a:solidFill>
              </a:rPr>
              <a:t> Wireless mesh nodes transmit data to an edge gateway, while GIS maps visualize risk zones and trigger Watch / Warning / Critical alerts.</a:t>
            </a:r>
            <a:endParaRPr sz="1100">
              <a:solidFill>
                <a:schemeClr val="dk1"/>
              </a:solidFill>
            </a:endParaRPr>
          </a:p>
          <a:p>
            <a:pPr indent="-311150" lvl="0" marL="457200" rtl="0" algn="l">
              <a:lnSpc>
                <a:spcPct val="100000"/>
              </a:lnSpc>
              <a:spcBef>
                <a:spcPts val="0"/>
              </a:spcBef>
              <a:spcAft>
                <a:spcPts val="0"/>
              </a:spcAft>
              <a:buClr>
                <a:srgbClr val="0070C0"/>
              </a:buClr>
              <a:buSzPts val="1300"/>
              <a:buFont typeface="Calibri"/>
              <a:buChar char="➔"/>
            </a:pPr>
            <a:r>
              <a:t/>
            </a:r>
            <a:endParaRPr b="1" sz="1300" u="sng">
              <a:solidFill>
                <a:srgbClr val="0070C0"/>
              </a:solidFill>
              <a:latin typeface="Calibri"/>
              <a:ea typeface="Calibri"/>
              <a:cs typeface="Calibri"/>
              <a:sym typeface="Calibri"/>
            </a:endParaRPr>
          </a:p>
        </p:txBody>
      </p:sp>
      <p:sp>
        <p:nvSpPr>
          <p:cNvPr id="102" name="Google Shape;102;p14"/>
          <p:cNvSpPr txBox="1"/>
          <p:nvPr/>
        </p:nvSpPr>
        <p:spPr>
          <a:xfrm>
            <a:off x="83713" y="3262256"/>
            <a:ext cx="46719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100"/>
              <a:buFont typeface="Arial"/>
              <a:buNone/>
            </a:pPr>
            <a:r>
              <a:rPr b="1" lang="en" sz="1300" u="sng">
                <a:solidFill>
                  <a:srgbClr val="17375E"/>
                </a:solidFill>
              </a:rPr>
              <a:t>How it Works:</a:t>
            </a:r>
            <a:endParaRPr b="0" i="0" sz="1300" u="none" cap="none" strike="noStrike">
              <a:solidFill>
                <a:srgbClr val="000000"/>
              </a:solidFill>
              <a:latin typeface="Arial"/>
              <a:ea typeface="Arial"/>
              <a:cs typeface="Arial"/>
              <a:sym typeface="Arial"/>
            </a:endParaRPr>
          </a:p>
        </p:txBody>
      </p:sp>
      <p:sp>
        <p:nvSpPr>
          <p:cNvPr id="103" name="Google Shape;103;p14"/>
          <p:cNvSpPr txBox="1"/>
          <p:nvPr/>
        </p:nvSpPr>
        <p:spPr>
          <a:xfrm>
            <a:off x="112225" y="3472200"/>
            <a:ext cx="8890800" cy="1671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1. </a:t>
            </a:r>
            <a:r>
              <a:rPr b="1" lang="en" sz="1250">
                <a:solidFill>
                  <a:srgbClr val="0070C0"/>
                </a:solidFill>
                <a:latin typeface="Calibri"/>
                <a:ea typeface="Calibri"/>
                <a:cs typeface="Calibri"/>
                <a:sym typeface="Calibri"/>
              </a:rPr>
              <a:t>Sense</a:t>
            </a:r>
            <a:r>
              <a:rPr b="1" lang="en" sz="1000">
                <a:solidFill>
                  <a:schemeClr val="dk1"/>
                </a:solidFill>
              </a:rPr>
              <a:t>:</a:t>
            </a:r>
            <a:r>
              <a:rPr lang="en" sz="1000">
                <a:solidFill>
                  <a:schemeClr val="dk1"/>
                </a:solidFill>
              </a:rPr>
              <a:t> </a:t>
            </a:r>
            <a:r>
              <a:rPr lang="en" sz="1100">
                <a:solidFill>
                  <a:schemeClr val="dk1"/>
                </a:solidFill>
              </a:rPr>
              <a:t>Distributed ESP32-based sensor nodes continuously monitor ground tilt, relative displacement, crack initiation, and vibration across the mine panel.</a:t>
            </a:r>
            <a:br>
              <a:rPr lang="en" sz="1000">
                <a:solidFill>
                  <a:schemeClr val="dk1"/>
                </a:solidFill>
              </a:rPr>
            </a:br>
            <a:r>
              <a:rPr b="1" lang="en" sz="1000">
                <a:solidFill>
                  <a:schemeClr val="dk1"/>
                </a:solidFill>
              </a:rPr>
              <a:t>2. </a:t>
            </a:r>
            <a:r>
              <a:rPr b="1" lang="en" sz="1250">
                <a:solidFill>
                  <a:srgbClr val="0070C0"/>
                </a:solidFill>
                <a:latin typeface="Calibri"/>
                <a:ea typeface="Calibri"/>
                <a:cs typeface="Calibri"/>
                <a:sym typeface="Calibri"/>
              </a:rPr>
              <a:t>Connect &amp; Analyze:</a:t>
            </a:r>
            <a:r>
              <a:rPr lang="en" sz="1000">
                <a:solidFill>
                  <a:schemeClr val="dk1"/>
                </a:solidFill>
              </a:rPr>
              <a:t> </a:t>
            </a:r>
            <a:r>
              <a:rPr lang="en" sz="1100">
                <a:solidFill>
                  <a:schemeClr val="dk1"/>
                </a:solidFill>
              </a:rPr>
              <a:t>Nodes share data through a wireless mesh network and send it to an edge gateway, where AI analyzes sensor trends and neighboring-node changes to identify abnormal deformation.</a:t>
            </a:r>
            <a:br>
              <a:rPr lang="en" sz="1000">
                <a:solidFill>
                  <a:schemeClr val="dk1"/>
                </a:solidFill>
              </a:rPr>
            </a:br>
            <a:r>
              <a:rPr b="1" lang="en" sz="1000">
                <a:solidFill>
                  <a:schemeClr val="dk1"/>
                </a:solidFill>
              </a:rPr>
              <a:t>3. </a:t>
            </a:r>
            <a:r>
              <a:rPr b="1" lang="en" sz="1250">
                <a:solidFill>
                  <a:srgbClr val="0070C0"/>
                </a:solidFill>
                <a:latin typeface="Calibri"/>
                <a:ea typeface="Calibri"/>
                <a:cs typeface="Calibri"/>
                <a:sym typeface="Calibri"/>
              </a:rPr>
              <a:t>Map &amp; Warn</a:t>
            </a:r>
            <a:r>
              <a:rPr b="1" lang="en" sz="1000">
                <a:solidFill>
                  <a:schemeClr val="dk1"/>
                </a:solidFill>
              </a:rPr>
              <a:t>:</a:t>
            </a:r>
            <a:r>
              <a:rPr lang="en" sz="1000">
                <a:solidFill>
                  <a:schemeClr val="dk1"/>
                </a:solidFill>
              </a:rPr>
              <a:t> </a:t>
            </a:r>
            <a:r>
              <a:rPr lang="en" sz="1100">
                <a:solidFill>
                  <a:schemeClr val="dk1"/>
                </a:solidFill>
              </a:rPr>
              <a:t>The system displays deformation and subsidence-risk zones on a GIS/3D map, while automatically triggering Watch / Warning / Critical alerts when dangerous patterns are detected.</a:t>
            </a:r>
            <a:endParaRPr sz="1000">
              <a:solidFill>
                <a:schemeClr val="dk1"/>
              </a:solidFill>
            </a:endParaRPr>
          </a:p>
          <a:p>
            <a:pPr indent="0" lvl="0" marL="0" marR="0" rtl="0" algn="l">
              <a:lnSpc>
                <a:spcPct val="115000"/>
              </a:lnSpc>
              <a:spcBef>
                <a:spcPts val="1200"/>
              </a:spcBef>
              <a:spcAft>
                <a:spcPts val="0"/>
              </a:spcAft>
              <a:buNone/>
            </a:pPr>
            <a:r>
              <a:t/>
            </a:r>
            <a:endParaRPr b="1" sz="1150">
              <a:solidFill>
                <a:schemeClr val="dk1"/>
              </a:solidFill>
              <a:latin typeface="Calibri"/>
              <a:ea typeface="Calibri"/>
              <a:cs typeface="Calibri"/>
              <a:sym typeface="Calibri"/>
            </a:endParaRPr>
          </a:p>
        </p:txBody>
      </p:sp>
      <p:pic>
        <p:nvPicPr>
          <p:cNvPr id="104" name="Google Shape;104;p14"/>
          <p:cNvPicPr preferRelativeResize="0"/>
          <p:nvPr/>
        </p:nvPicPr>
        <p:blipFill>
          <a:blip r:embed="rId3">
            <a:alphaModFix/>
          </a:blip>
          <a:stretch>
            <a:fillRect/>
          </a:stretch>
        </p:blipFill>
        <p:spPr>
          <a:xfrm>
            <a:off x="7772048" y="0"/>
            <a:ext cx="1371953" cy="648900"/>
          </a:xfrm>
          <a:prstGeom prst="rect">
            <a:avLst/>
          </a:prstGeom>
          <a:noFill/>
          <a:ln>
            <a:noFill/>
          </a:ln>
        </p:spPr>
      </p:pic>
      <p:pic>
        <p:nvPicPr>
          <p:cNvPr id="105" name="Google Shape;105;p14"/>
          <p:cNvPicPr preferRelativeResize="0"/>
          <p:nvPr/>
        </p:nvPicPr>
        <p:blipFill>
          <a:blip r:embed="rId4">
            <a:alphaModFix/>
          </a:blip>
          <a:stretch>
            <a:fillRect/>
          </a:stretch>
        </p:blipFill>
        <p:spPr>
          <a:xfrm>
            <a:off x="4836526" y="775500"/>
            <a:ext cx="4073850" cy="2273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descr="Your startup LOGO" id="111" name="Google Shape;111;p15"/>
          <p:cNvSpPr/>
          <p:nvPr/>
        </p:nvSpPr>
        <p:spPr>
          <a:xfrm>
            <a:off x="83725" y="32449"/>
            <a:ext cx="983700" cy="648900"/>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en" sz="1200">
                <a:solidFill>
                  <a:schemeClr val="dk1"/>
                </a:solidFill>
                <a:latin typeface="Oswald Medium"/>
                <a:ea typeface="Oswald Medium"/>
                <a:cs typeface="Oswald Medium"/>
                <a:sym typeface="Oswald Medium"/>
              </a:rPr>
              <a:t>DraftZero</a:t>
            </a:r>
            <a:endParaRPr b="0" i="0" sz="1200" u="none" cap="none" strike="noStrike">
              <a:solidFill>
                <a:schemeClr val="dk1"/>
              </a:solidFill>
              <a:latin typeface="Oswald Medium"/>
              <a:ea typeface="Oswald Medium"/>
              <a:cs typeface="Oswald Medium"/>
              <a:sym typeface="Oswald Medium"/>
            </a:endParaRPr>
          </a:p>
        </p:txBody>
      </p:sp>
      <p:sp>
        <p:nvSpPr>
          <p:cNvPr id="112" name="Google Shape;112;p15"/>
          <p:cNvSpPr/>
          <p:nvPr/>
        </p:nvSpPr>
        <p:spPr>
          <a:xfrm>
            <a:off x="0" y="4766072"/>
            <a:ext cx="9144000" cy="377400"/>
          </a:xfrm>
          <a:prstGeom prst="rect">
            <a:avLst/>
          </a:prstGeom>
          <a:solidFill>
            <a:srgbClr val="0070C0"/>
          </a:solidFill>
          <a:ln>
            <a:noFill/>
          </a:ln>
          <a:effectLst>
            <a:outerShdw rotWithShape="0" dir="5400000" dist="23000">
              <a:srgbClr val="808080">
                <a:alpha val="34118"/>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53734"/>
              </a:solidFill>
              <a:latin typeface="Calibri"/>
              <a:ea typeface="Calibri"/>
              <a:cs typeface="Calibri"/>
              <a:sym typeface="Calibri"/>
            </a:endParaRPr>
          </a:p>
        </p:txBody>
      </p:sp>
      <p:sp>
        <p:nvSpPr>
          <p:cNvPr id="113" name="Google Shape;113;p15"/>
          <p:cNvSpPr txBox="1"/>
          <p:nvPr>
            <p:ph type="title"/>
          </p:nvPr>
        </p:nvSpPr>
        <p:spPr>
          <a:xfrm>
            <a:off x="877950" y="0"/>
            <a:ext cx="7619400" cy="857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 sz="2700">
                <a:solidFill>
                  <a:srgbClr val="17375E"/>
                </a:solidFill>
                <a:latin typeface="Times New Roman"/>
                <a:ea typeface="Times New Roman"/>
                <a:cs typeface="Times New Roman"/>
                <a:sym typeface="Times New Roman"/>
              </a:rPr>
              <a:t>TECHNICAL APPROACH</a:t>
            </a:r>
            <a:endParaRPr sz="1100">
              <a:solidFill>
                <a:srgbClr val="17375E"/>
              </a:solidFill>
            </a:endParaRPr>
          </a:p>
        </p:txBody>
      </p:sp>
      <p:sp>
        <p:nvSpPr>
          <p:cNvPr id="114" name="Google Shape;114;p1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1100"/>
              <a:buNone/>
            </a:pPr>
            <a:fld id="{00000000-1234-1234-1234-123412341234}" type="slidenum">
              <a:rPr b="1" lang="en" sz="1100">
                <a:solidFill>
                  <a:schemeClr val="lt1"/>
                </a:solidFill>
              </a:rPr>
              <a:t>‹#›</a:t>
            </a:fld>
            <a:endParaRPr b="1" sz="1100">
              <a:solidFill>
                <a:schemeClr val="lt1"/>
              </a:solidFill>
            </a:endParaRPr>
          </a:p>
        </p:txBody>
      </p:sp>
      <p:sp>
        <p:nvSpPr>
          <p:cNvPr id="115" name="Google Shape;115;p15"/>
          <p:cNvSpPr txBox="1"/>
          <p:nvPr>
            <p:ph idx="11" type="ftr"/>
          </p:nvPr>
        </p:nvSpPr>
        <p:spPr>
          <a:xfrm>
            <a:off x="3486150" y="4767265"/>
            <a:ext cx="2403000" cy="273844"/>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 sz="1100">
                <a:solidFill>
                  <a:schemeClr val="lt1"/>
                </a:solidFill>
              </a:rPr>
              <a:t>@SIH Idea submission- Template</a:t>
            </a:r>
            <a:endParaRPr sz="1100">
              <a:solidFill>
                <a:schemeClr val="lt1"/>
              </a:solidFill>
            </a:endParaRPr>
          </a:p>
        </p:txBody>
      </p:sp>
      <p:pic>
        <p:nvPicPr>
          <p:cNvPr id="116" name="Google Shape;116;p15"/>
          <p:cNvPicPr preferRelativeResize="0"/>
          <p:nvPr/>
        </p:nvPicPr>
        <p:blipFill>
          <a:blip r:embed="rId3">
            <a:alphaModFix/>
          </a:blip>
          <a:stretch>
            <a:fillRect/>
          </a:stretch>
        </p:blipFill>
        <p:spPr>
          <a:xfrm>
            <a:off x="7810735" y="0"/>
            <a:ext cx="1333265" cy="630600"/>
          </a:xfrm>
          <a:prstGeom prst="rect">
            <a:avLst/>
          </a:prstGeom>
          <a:noFill/>
          <a:ln>
            <a:noFill/>
          </a:ln>
        </p:spPr>
      </p:pic>
      <p:pic>
        <p:nvPicPr>
          <p:cNvPr id="117" name="Google Shape;117;p15"/>
          <p:cNvPicPr preferRelativeResize="0"/>
          <p:nvPr/>
        </p:nvPicPr>
        <p:blipFill>
          <a:blip r:embed="rId4">
            <a:alphaModFix/>
          </a:blip>
          <a:stretch>
            <a:fillRect/>
          </a:stretch>
        </p:blipFill>
        <p:spPr>
          <a:xfrm>
            <a:off x="494713" y="655975"/>
            <a:ext cx="8154576" cy="4084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p:nvPr/>
        </p:nvSpPr>
        <p:spPr>
          <a:xfrm>
            <a:off x="6158075" y="647675"/>
            <a:ext cx="2881200" cy="399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id="124" name="Google Shape;124;p16"/>
          <p:cNvSpPr/>
          <p:nvPr/>
        </p:nvSpPr>
        <p:spPr>
          <a:xfrm>
            <a:off x="3249825" y="647675"/>
            <a:ext cx="2799600" cy="399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id="125" name="Google Shape;125;p16"/>
          <p:cNvSpPr/>
          <p:nvPr/>
        </p:nvSpPr>
        <p:spPr>
          <a:xfrm>
            <a:off x="91675" y="642200"/>
            <a:ext cx="3049500" cy="399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id="126" name="Google Shape;126;p16"/>
          <p:cNvSpPr/>
          <p:nvPr/>
        </p:nvSpPr>
        <p:spPr>
          <a:xfrm>
            <a:off x="0" y="4766072"/>
            <a:ext cx="9144000" cy="377400"/>
          </a:xfrm>
          <a:prstGeom prst="rect">
            <a:avLst/>
          </a:prstGeom>
          <a:solidFill>
            <a:srgbClr val="0070C0"/>
          </a:solidFill>
          <a:ln>
            <a:noFill/>
          </a:ln>
          <a:effectLst>
            <a:outerShdw rotWithShape="0" dir="5400000" dist="23000">
              <a:srgbClr val="808080">
                <a:alpha val="3412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127" name="Google Shape;127;p16"/>
          <p:cNvSpPr txBox="1"/>
          <p:nvPr>
            <p:ph idx="12" type="sldNum"/>
          </p:nvPr>
        </p:nvSpPr>
        <p:spPr>
          <a:xfrm>
            <a:off x="6553200" y="4767265"/>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128" name="Google Shape;128;p16"/>
          <p:cNvSpPr txBox="1"/>
          <p:nvPr>
            <p:ph idx="11" type="ftr"/>
          </p:nvPr>
        </p:nvSpPr>
        <p:spPr>
          <a:xfrm>
            <a:off x="3464225" y="4690490"/>
            <a:ext cx="24030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900"/>
              <a:buFont typeface="Oswald"/>
              <a:buNone/>
            </a:pPr>
            <a:r>
              <a:rPr b="0" i="0" lang="en" sz="900" u="none" cap="none" strike="noStrike">
                <a:solidFill>
                  <a:srgbClr val="FFFFFF"/>
                </a:solidFill>
                <a:latin typeface="Oswald"/>
                <a:ea typeface="Oswald"/>
                <a:cs typeface="Oswald"/>
                <a:sym typeface="Oswald"/>
              </a:rPr>
              <a:t>@SIH Idea submission- Template</a:t>
            </a:r>
            <a:endParaRPr b="0" i="0" sz="900" u="none" cap="none" strike="noStrike">
              <a:solidFill>
                <a:srgbClr val="FFFFFF"/>
              </a:solidFill>
              <a:latin typeface="Oswald"/>
              <a:ea typeface="Oswald"/>
              <a:cs typeface="Oswald"/>
              <a:sym typeface="Oswald"/>
            </a:endParaRPr>
          </a:p>
        </p:txBody>
      </p:sp>
      <p:sp>
        <p:nvSpPr>
          <p:cNvPr id="129" name="Google Shape;129;p16"/>
          <p:cNvSpPr txBox="1"/>
          <p:nvPr/>
        </p:nvSpPr>
        <p:spPr>
          <a:xfrm>
            <a:off x="3328874" y="688975"/>
            <a:ext cx="2720400" cy="385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600">
                <a:solidFill>
                  <a:srgbClr val="17375E"/>
                </a:solidFill>
              </a:rPr>
              <a:t>PROBLEMS &amp; STRATEGIES</a:t>
            </a:r>
            <a:endParaRPr b="1" sz="1600">
              <a:solidFill>
                <a:srgbClr val="17375E"/>
              </a:solidFill>
            </a:endParaRPr>
          </a:p>
          <a:p>
            <a:pPr indent="0" lvl="0" marL="0" rtl="0" algn="l">
              <a:lnSpc>
                <a:spcPct val="115000"/>
              </a:lnSpc>
              <a:spcBef>
                <a:spcPts val="1200"/>
              </a:spcBef>
              <a:spcAft>
                <a:spcPts val="1200"/>
              </a:spcAft>
              <a:buNone/>
            </a:pPr>
            <a:r>
              <a:rPr b="1" lang="en" sz="1200">
                <a:solidFill>
                  <a:srgbClr val="17375E"/>
                </a:solidFill>
                <a:latin typeface="Calibri"/>
                <a:ea typeface="Calibri"/>
                <a:cs typeface="Calibri"/>
                <a:sym typeface="Calibri"/>
              </a:rPr>
              <a:t>Sensor Noise &amp; Errors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a:t>
            </a:r>
            <a:r>
              <a:rPr lang="en" sz="1200">
                <a:solidFill>
                  <a:schemeClr val="dk1"/>
                </a:solidFill>
                <a:latin typeface="Calibri"/>
                <a:ea typeface="Calibri"/>
                <a:cs typeface="Calibri"/>
                <a:sym typeface="Calibri"/>
              </a:rPr>
              <a:t>Data filtering and sensor calibration improve reliability.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Limited Mine Data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a:t>
            </a:r>
            <a:r>
              <a:rPr lang="en" sz="1200">
                <a:solidFill>
                  <a:schemeClr val="dk1"/>
                </a:solidFill>
                <a:latin typeface="Calibri"/>
                <a:ea typeface="Calibri"/>
                <a:cs typeface="Calibri"/>
                <a:sym typeface="Calibri"/>
              </a:rPr>
              <a:t>Initial detection uses threshold-based rules and collected field data.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Power Limitations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a:t>
            </a:r>
            <a:r>
              <a:rPr lang="en" sz="1200">
                <a:solidFill>
                  <a:schemeClr val="dk1"/>
                </a:solidFill>
                <a:latin typeface="Calibri"/>
                <a:ea typeface="Calibri"/>
                <a:cs typeface="Calibri"/>
                <a:sym typeface="Calibri"/>
              </a:rPr>
              <a:t>Low-power components and battery-level monitoring extend node operation.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Internet Failure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a:t>
            </a:r>
            <a:r>
              <a:rPr lang="en" sz="1200">
                <a:solidFill>
                  <a:schemeClr val="dk1"/>
                </a:solidFill>
                <a:latin typeface="Calibri"/>
                <a:ea typeface="Calibri"/>
                <a:cs typeface="Calibri"/>
                <a:sym typeface="Calibri"/>
              </a:rPr>
              <a:t>Local storage keeps monitoring active and syncs data when connectivity returns. </a:t>
            </a:r>
            <a:endParaRPr sz="1200">
              <a:solidFill>
                <a:schemeClr val="dk1"/>
              </a:solidFill>
              <a:latin typeface="Calibri"/>
              <a:ea typeface="Calibri"/>
              <a:cs typeface="Calibri"/>
              <a:sym typeface="Calibri"/>
            </a:endParaRPr>
          </a:p>
        </p:txBody>
      </p:sp>
      <p:sp>
        <p:nvSpPr>
          <p:cNvPr id="130" name="Google Shape;130;p16"/>
          <p:cNvSpPr txBox="1"/>
          <p:nvPr/>
        </p:nvSpPr>
        <p:spPr>
          <a:xfrm>
            <a:off x="179525" y="93000"/>
            <a:ext cx="2881200" cy="432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b="1" lang="en" sz="1700">
                <a:solidFill>
                  <a:srgbClr val="17375E"/>
                </a:solidFill>
              </a:rPr>
              <a:t> </a:t>
            </a:r>
            <a:endParaRPr b="1" sz="1700">
              <a:solidFill>
                <a:srgbClr val="17375E"/>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rgbClr val="17375E"/>
                </a:solidFill>
              </a:rPr>
              <a:t>FEASIBILITY</a:t>
            </a:r>
            <a:endParaRPr b="1" sz="1700">
              <a:solidFill>
                <a:srgbClr val="17375E"/>
              </a:solidFill>
            </a:endParaRPr>
          </a:p>
          <a:p>
            <a:pPr indent="0" lvl="0" marL="0" rtl="0" algn="l">
              <a:lnSpc>
                <a:spcPct val="115000"/>
              </a:lnSpc>
              <a:spcBef>
                <a:spcPts val="1200"/>
              </a:spcBef>
              <a:spcAft>
                <a:spcPts val="1200"/>
              </a:spcAft>
              <a:buClr>
                <a:schemeClr val="dk1"/>
              </a:buClr>
              <a:buSzPts val="1100"/>
              <a:buFont typeface="Arial"/>
              <a:buNone/>
            </a:pPr>
            <a:r>
              <a:rPr b="1" lang="en" sz="1200">
                <a:solidFill>
                  <a:srgbClr val="17375E"/>
                </a:solidFill>
                <a:latin typeface="Calibri"/>
                <a:ea typeface="Calibri"/>
                <a:cs typeface="Calibri"/>
                <a:sym typeface="Calibri"/>
              </a:rPr>
              <a:t>Low-Cost Sensors</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Tilt, displacement, crack and vibration sensors are easily available.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Easy to Build</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Low-cost microcontrollers handle sensing and local processing.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Wireless Mesh Network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LoRa-based communication enables long-range data transfer between nodes.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Real-Time Monitoring</a:t>
            </a:r>
            <a:r>
              <a:rPr lang="en" sz="1100">
                <a:solidFill>
                  <a:schemeClr val="dk1"/>
                </a:solidFill>
              </a:rPr>
              <a:t>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Continuous monitoring helps identify small ground movements early.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AI-Based Detection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Sensor data is analyzed to detect abnormal movement and subsidence risk. </a:t>
            </a:r>
            <a:endParaRPr/>
          </a:p>
        </p:txBody>
      </p:sp>
      <p:sp>
        <p:nvSpPr>
          <p:cNvPr id="131" name="Google Shape;131;p16"/>
          <p:cNvSpPr txBox="1"/>
          <p:nvPr/>
        </p:nvSpPr>
        <p:spPr>
          <a:xfrm>
            <a:off x="6246275" y="642200"/>
            <a:ext cx="2720400" cy="416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rgbClr val="17375E"/>
                </a:solidFill>
              </a:rPr>
              <a:t>ECONOMIC VIABILITY</a:t>
            </a:r>
            <a:endParaRPr b="1" sz="1700">
              <a:solidFill>
                <a:srgbClr val="17375E"/>
              </a:solidFill>
            </a:endParaRPr>
          </a:p>
          <a:p>
            <a:pPr indent="0" lvl="0" marL="0" rtl="0" algn="l">
              <a:lnSpc>
                <a:spcPct val="115000"/>
              </a:lnSpc>
              <a:spcBef>
                <a:spcPts val="1200"/>
              </a:spcBef>
              <a:spcAft>
                <a:spcPts val="0"/>
              </a:spcAft>
              <a:buNone/>
            </a:pPr>
            <a:r>
              <a:rPr b="1" lang="en" sz="1200">
                <a:solidFill>
                  <a:srgbClr val="17375E"/>
                </a:solidFill>
                <a:latin typeface="Calibri"/>
                <a:ea typeface="Calibri"/>
                <a:cs typeface="Calibri"/>
                <a:sym typeface="Calibri"/>
              </a:rPr>
              <a:t>Low Hardware Cost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a:t>
            </a:r>
            <a:r>
              <a:rPr lang="en" sz="1200">
                <a:solidFill>
                  <a:schemeClr val="dk1"/>
                </a:solidFill>
                <a:latin typeface="Calibri"/>
                <a:ea typeface="Calibri"/>
                <a:cs typeface="Calibri"/>
                <a:sym typeface="Calibri"/>
              </a:rPr>
              <a:t>Uses affordable ESP32 boards and commercially available sensors.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Reduced Installation Cost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 </a:t>
            </a:r>
            <a:r>
              <a:rPr lang="en" sz="1200">
                <a:solidFill>
                  <a:schemeClr val="dk1"/>
                </a:solidFill>
                <a:latin typeface="Calibri"/>
                <a:ea typeface="Calibri"/>
                <a:cs typeface="Calibri"/>
                <a:sym typeface="Calibri"/>
              </a:rPr>
              <a:t>Wireless communication minimizes the need for cables and complex wiring.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Scalable Deployment </a:t>
            </a:r>
            <a:br>
              <a:rPr b="1"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Additional sensor nodes can be added as the monitored area increases. </a:t>
            </a:r>
            <a:br>
              <a:rPr lang="en" sz="1200">
                <a:solidFill>
                  <a:schemeClr val="dk1"/>
                </a:solidFill>
                <a:latin typeface="Calibri"/>
                <a:ea typeface="Calibri"/>
                <a:cs typeface="Calibri"/>
                <a:sym typeface="Calibri"/>
              </a:rPr>
            </a:br>
            <a:r>
              <a:rPr b="1" lang="en" sz="1200">
                <a:solidFill>
                  <a:srgbClr val="17375E"/>
                </a:solidFill>
                <a:latin typeface="Calibri"/>
                <a:ea typeface="Calibri"/>
                <a:cs typeface="Calibri"/>
                <a:sym typeface="Calibri"/>
              </a:rPr>
              <a:t>Low Maintenance </a:t>
            </a:r>
            <a:br>
              <a:rPr b="1" lang="en" sz="1200">
                <a:solidFill>
                  <a:schemeClr val="dk2"/>
                </a:solidFill>
                <a:latin typeface="Calibri"/>
                <a:ea typeface="Calibri"/>
                <a:cs typeface="Calibri"/>
                <a:sym typeface="Calibri"/>
              </a:rPr>
            </a:br>
            <a:r>
              <a:rPr lang="en" sz="1200">
                <a:solidFill>
                  <a:schemeClr val="dk2"/>
                </a:solidFill>
                <a:latin typeface="Calibri"/>
                <a:ea typeface="Calibri"/>
                <a:cs typeface="Calibri"/>
                <a:sym typeface="Calibri"/>
              </a:rPr>
              <a:t> </a:t>
            </a:r>
            <a:r>
              <a:rPr lang="en" sz="1200">
                <a:solidFill>
                  <a:schemeClr val="dk1"/>
                </a:solidFill>
                <a:latin typeface="Calibri"/>
                <a:ea typeface="Calibri"/>
                <a:cs typeface="Calibri"/>
                <a:sym typeface="Calibri"/>
              </a:rPr>
              <a:t>-</a:t>
            </a:r>
            <a:r>
              <a:rPr lang="en" sz="1200">
                <a:solidFill>
                  <a:schemeClr val="dk1"/>
                </a:solidFill>
                <a:latin typeface="Calibri"/>
                <a:ea typeface="Calibri"/>
                <a:cs typeface="Calibri"/>
                <a:sym typeface="Calibri"/>
              </a:rPr>
              <a:t>Remote monitoring reduces frequent manual inspection. </a:t>
            </a:r>
            <a:r>
              <a:rPr b="1" lang="en" sz="1200">
                <a:solidFill>
                  <a:srgbClr val="17375E"/>
                </a:solidFill>
                <a:latin typeface="Calibri"/>
                <a:ea typeface="Calibri"/>
                <a:cs typeface="Calibri"/>
                <a:sym typeface="Calibri"/>
              </a:rPr>
              <a:t>Practical Value  </a:t>
            </a:r>
            <a:br>
              <a:rPr b="1" lang="en" sz="1200">
                <a:solidFill>
                  <a:schemeClr val="dk2"/>
                </a:solidFill>
                <a:latin typeface="Calibri"/>
                <a:ea typeface="Calibri"/>
                <a:cs typeface="Calibri"/>
                <a:sym typeface="Calibri"/>
              </a:rPr>
            </a:br>
            <a:r>
              <a:rPr lang="en" sz="1200">
                <a:solidFill>
                  <a:schemeClr val="dk2"/>
                </a:solidFill>
                <a:latin typeface="Calibri"/>
                <a:ea typeface="Calibri"/>
                <a:cs typeface="Calibri"/>
                <a:sym typeface="Calibri"/>
              </a:rPr>
              <a:t> </a:t>
            </a:r>
            <a:r>
              <a:rPr lang="en" sz="1200">
                <a:solidFill>
                  <a:schemeClr val="dk1"/>
                </a:solidFill>
                <a:latin typeface="Calibri"/>
                <a:ea typeface="Calibri"/>
                <a:cs typeface="Calibri"/>
                <a:sym typeface="Calibri"/>
              </a:rPr>
              <a:t>-Early detection helps reduce damage to infrastructure, land and nearby communities. </a:t>
            </a:r>
            <a:endParaRPr sz="15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200">
              <a:solidFill>
                <a:schemeClr val="dk1"/>
              </a:solidFill>
              <a:latin typeface="Calibri"/>
              <a:ea typeface="Calibri"/>
              <a:cs typeface="Calibri"/>
              <a:sym typeface="Calibri"/>
            </a:endParaRPr>
          </a:p>
        </p:txBody>
      </p:sp>
      <p:sp>
        <p:nvSpPr>
          <p:cNvPr id="132" name="Google Shape;132;p16"/>
          <p:cNvSpPr txBox="1"/>
          <p:nvPr/>
        </p:nvSpPr>
        <p:spPr>
          <a:xfrm>
            <a:off x="1469225" y="44050"/>
            <a:ext cx="6033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17375E"/>
                </a:solidFill>
              </a:rPr>
              <a:t>FEASIBILITY AND VIABILITY</a:t>
            </a:r>
            <a:endParaRPr b="1" sz="2400">
              <a:solidFill>
                <a:srgbClr val="17375E"/>
              </a:solidFill>
            </a:endParaRPr>
          </a:p>
        </p:txBody>
      </p:sp>
      <p:pic>
        <p:nvPicPr>
          <p:cNvPr id="133" name="Google Shape;133;p16"/>
          <p:cNvPicPr preferRelativeResize="0"/>
          <p:nvPr/>
        </p:nvPicPr>
        <p:blipFill>
          <a:blip r:embed="rId3">
            <a:alphaModFix/>
          </a:blip>
          <a:stretch>
            <a:fillRect/>
          </a:stretch>
        </p:blipFill>
        <p:spPr>
          <a:xfrm>
            <a:off x="7810735" y="0"/>
            <a:ext cx="1333265" cy="630600"/>
          </a:xfrm>
          <a:prstGeom prst="rect">
            <a:avLst/>
          </a:prstGeom>
          <a:noFill/>
          <a:ln>
            <a:noFill/>
          </a:ln>
        </p:spPr>
      </p:pic>
      <p:sp>
        <p:nvSpPr>
          <p:cNvPr descr="Your startup LOGO" id="134" name="Google Shape;134;p16"/>
          <p:cNvSpPr/>
          <p:nvPr/>
        </p:nvSpPr>
        <p:spPr>
          <a:xfrm>
            <a:off x="83725" y="32450"/>
            <a:ext cx="992700" cy="554100"/>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en" sz="1200">
                <a:solidFill>
                  <a:schemeClr val="dk1"/>
                </a:solidFill>
                <a:latin typeface="Oswald Medium"/>
                <a:ea typeface="Oswald Medium"/>
                <a:cs typeface="Oswald Medium"/>
                <a:sym typeface="Oswald Medium"/>
              </a:rPr>
              <a:t>DraftZero</a:t>
            </a:r>
            <a:endParaRPr b="0" i="0" sz="1200" u="none" cap="none" strike="noStrike">
              <a:solidFill>
                <a:schemeClr val="dk1"/>
              </a:solidFill>
              <a:latin typeface="Oswald Medium"/>
              <a:ea typeface="Oswald Medium"/>
              <a:cs typeface="Oswald Medium"/>
              <a:sym typeface="Oswald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p:nvPr/>
        </p:nvSpPr>
        <p:spPr>
          <a:xfrm>
            <a:off x="0" y="4867800"/>
            <a:ext cx="9144000" cy="273900"/>
          </a:xfrm>
          <a:prstGeom prst="rect">
            <a:avLst/>
          </a:prstGeom>
          <a:solidFill>
            <a:srgbClr val="0070C0"/>
          </a:solidFill>
          <a:ln>
            <a:noFill/>
          </a:ln>
          <a:effectLst>
            <a:outerShdw rotWithShape="0" dir="5400000" dist="23000">
              <a:srgbClr val="808080">
                <a:alpha val="3373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141" name="Google Shape;141;p17"/>
          <p:cNvSpPr txBox="1"/>
          <p:nvPr>
            <p:ph type="title"/>
          </p:nvPr>
        </p:nvSpPr>
        <p:spPr>
          <a:xfrm>
            <a:off x="609325" y="219581"/>
            <a:ext cx="8229600" cy="857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 sz="2700">
                <a:solidFill>
                  <a:srgbClr val="17375E"/>
                </a:solidFill>
                <a:latin typeface="Times New Roman"/>
                <a:ea typeface="Times New Roman"/>
                <a:cs typeface="Times New Roman"/>
                <a:sym typeface="Times New Roman"/>
              </a:rPr>
              <a:t>IMPACT AND BENEFITS</a:t>
            </a:r>
            <a:endParaRPr>
              <a:solidFill>
                <a:srgbClr val="17375E"/>
              </a:solidFill>
            </a:endParaRPr>
          </a:p>
        </p:txBody>
      </p:sp>
      <p:sp>
        <p:nvSpPr>
          <p:cNvPr id="142" name="Google Shape;142;p17"/>
          <p:cNvSpPr txBox="1"/>
          <p:nvPr>
            <p:ph idx="12" type="sldNum"/>
          </p:nvPr>
        </p:nvSpPr>
        <p:spPr>
          <a:xfrm>
            <a:off x="6626175" y="4933865"/>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143" name="Google Shape;143;p17"/>
          <p:cNvSpPr txBox="1"/>
          <p:nvPr>
            <p:ph idx="11" type="ftr"/>
          </p:nvPr>
        </p:nvSpPr>
        <p:spPr>
          <a:xfrm>
            <a:off x="3522625" y="4867828"/>
            <a:ext cx="24030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900"/>
              <a:buFont typeface="Oswald"/>
              <a:buNone/>
            </a:pPr>
            <a:r>
              <a:rPr b="0" i="0" lang="en" sz="900" u="none" cap="none" strike="noStrike">
                <a:solidFill>
                  <a:srgbClr val="FFFFFF"/>
                </a:solidFill>
                <a:latin typeface="Oswald"/>
                <a:ea typeface="Oswald"/>
                <a:cs typeface="Oswald"/>
                <a:sym typeface="Oswald"/>
              </a:rPr>
              <a:t>@SIH Idea submission- Template</a:t>
            </a:r>
            <a:endParaRPr b="0" i="0" sz="900" u="none" cap="none" strike="noStrike">
              <a:solidFill>
                <a:srgbClr val="FFFFFF"/>
              </a:solidFill>
              <a:latin typeface="Oswald"/>
              <a:ea typeface="Oswald"/>
              <a:cs typeface="Oswald"/>
              <a:sym typeface="Oswald"/>
            </a:endParaRPr>
          </a:p>
        </p:txBody>
      </p:sp>
      <p:sp>
        <p:nvSpPr>
          <p:cNvPr descr="Your startup LOGO" id="144" name="Google Shape;144;p17"/>
          <p:cNvSpPr/>
          <p:nvPr/>
        </p:nvSpPr>
        <p:spPr>
          <a:xfrm>
            <a:off x="247325" y="145724"/>
            <a:ext cx="983700" cy="648900"/>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en" sz="1200">
                <a:solidFill>
                  <a:schemeClr val="dk1"/>
                </a:solidFill>
                <a:latin typeface="Oswald Medium"/>
                <a:ea typeface="Oswald Medium"/>
                <a:cs typeface="Oswald Medium"/>
                <a:sym typeface="Oswald Medium"/>
              </a:rPr>
              <a:t>DraftZero</a:t>
            </a:r>
            <a:endParaRPr b="0" i="0" sz="1200" u="none" cap="none" strike="noStrike">
              <a:solidFill>
                <a:schemeClr val="dk1"/>
              </a:solidFill>
              <a:latin typeface="Oswald Medium"/>
              <a:ea typeface="Oswald Medium"/>
              <a:cs typeface="Oswald Medium"/>
              <a:sym typeface="Oswald Medium"/>
            </a:endParaRPr>
          </a:p>
        </p:txBody>
      </p:sp>
      <p:sp>
        <p:nvSpPr>
          <p:cNvPr id="145" name="Google Shape;145;p17"/>
          <p:cNvSpPr txBox="1"/>
          <p:nvPr/>
        </p:nvSpPr>
        <p:spPr>
          <a:xfrm>
            <a:off x="82900" y="939000"/>
            <a:ext cx="4260600" cy="365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100">
                <a:solidFill>
                  <a:srgbClr val="17375E"/>
                </a:solidFill>
              </a:rPr>
              <a:t>Early Detection</a:t>
            </a:r>
            <a:endParaRPr sz="1100">
              <a:solidFill>
                <a:srgbClr val="17375E"/>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Detects small changes in ground tilt and displacement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Identifies early crack formation and unusual vibrations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Provides early warning before serious ground failure</a:t>
            </a:r>
            <a:endParaRPr sz="1100">
              <a:solidFill>
                <a:schemeClr val="dk1"/>
              </a:solidFill>
            </a:endParaRPr>
          </a:p>
          <a:p>
            <a:pPr indent="0" lvl="0" marL="0" rtl="0" algn="l">
              <a:lnSpc>
                <a:spcPct val="115000"/>
              </a:lnSpc>
              <a:spcBef>
                <a:spcPts val="1200"/>
              </a:spcBef>
              <a:spcAft>
                <a:spcPts val="0"/>
              </a:spcAft>
              <a:buNone/>
            </a:pPr>
            <a:r>
              <a:rPr lang="en" sz="1100">
                <a:solidFill>
                  <a:srgbClr val="17375E"/>
                </a:solidFill>
              </a:rPr>
              <a:t>Real-Time Monitoring		</a:t>
            </a:r>
            <a:endParaRPr sz="1100">
              <a:solidFill>
                <a:srgbClr val="17375E"/>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Continuously monitors mine panels using distributed sensor nodes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Tracks changes between neighboring nodes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Provides live deformation data to mine operators</a:t>
            </a:r>
            <a:endParaRPr sz="1100">
              <a:solidFill>
                <a:schemeClr val="dk1"/>
              </a:solidFill>
            </a:endParaRPr>
          </a:p>
          <a:p>
            <a:pPr indent="0" lvl="0" marL="0" rtl="0" algn="l">
              <a:lnSpc>
                <a:spcPct val="115000"/>
              </a:lnSpc>
              <a:spcBef>
                <a:spcPts val="1200"/>
              </a:spcBef>
              <a:spcAft>
                <a:spcPts val="0"/>
              </a:spcAft>
              <a:buNone/>
            </a:pPr>
            <a:r>
              <a:rPr lang="en" sz="1100">
                <a:solidFill>
                  <a:srgbClr val="17375E"/>
                </a:solidFill>
              </a:rPr>
              <a:t>Risk Visualization</a:t>
            </a:r>
            <a:endParaRPr sz="1100">
              <a:solidFill>
                <a:srgbClr val="17375E"/>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Displays ground movement on a GIS/3D mine map</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Highlights areas with increasing subsidence risk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Helps operators identify Watch, Warning and Critical zones</a:t>
            </a:r>
            <a:endParaRPr sz="1100">
              <a:solidFill>
                <a:schemeClr val="dk1"/>
              </a:solidFill>
            </a:endParaRPr>
          </a:p>
        </p:txBody>
      </p:sp>
      <p:sp>
        <p:nvSpPr>
          <p:cNvPr id="146" name="Google Shape;146;p17"/>
          <p:cNvSpPr txBox="1"/>
          <p:nvPr/>
        </p:nvSpPr>
        <p:spPr>
          <a:xfrm>
            <a:off x="4343500" y="941500"/>
            <a:ext cx="4800600" cy="32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rgbClr val="17375E"/>
                </a:solidFill>
              </a:rPr>
              <a:t>Low Cost and scalable</a:t>
            </a:r>
            <a:endParaRPr sz="1100">
              <a:solidFill>
                <a:srgbClr val="17375E"/>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Uses affordable ESP32 and commercial sensors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Wireless network reduces cabling and installation requirements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Additional nodes can be deployed as the mine area expands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2"/>
                </a:solidFill>
              </a:rPr>
              <a:t>Smart decision Support</a:t>
            </a:r>
            <a:endParaRPr sz="1100">
              <a:solidFill>
                <a:srgbClr val="17375E"/>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AI combines multiple sensor readings to identify abnormal patterns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Estimates the severity and progression of ground movement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Supports faster inspection and preventive action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rgbClr val="1F497D"/>
                </a:solidFill>
              </a:rPr>
              <a:t>Safety and environment</a:t>
            </a:r>
            <a:endParaRPr sz="1100">
              <a:solidFill>
                <a:srgbClr val="1F497D"/>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Helps protect workers, nearby communities and infrastructure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Reduces potential damage to agricultural and forest areas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Enables faster response to developing ground instability</a:t>
            </a:r>
            <a:endParaRPr sz="1100">
              <a:solidFill>
                <a:schemeClr val="dk1"/>
              </a:solidFill>
            </a:endParaRPr>
          </a:p>
        </p:txBody>
      </p:sp>
      <p:pic>
        <p:nvPicPr>
          <p:cNvPr id="147" name="Google Shape;147;p17"/>
          <p:cNvPicPr preferRelativeResize="0"/>
          <p:nvPr/>
        </p:nvPicPr>
        <p:blipFill>
          <a:blip r:embed="rId3">
            <a:alphaModFix/>
          </a:blip>
          <a:stretch>
            <a:fillRect/>
          </a:stretch>
        </p:blipFill>
        <p:spPr>
          <a:xfrm>
            <a:off x="7810735" y="0"/>
            <a:ext cx="1333265" cy="630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p:nvPr/>
        </p:nvSpPr>
        <p:spPr>
          <a:xfrm>
            <a:off x="4801400" y="1011775"/>
            <a:ext cx="4278600" cy="3697200"/>
          </a:xfrm>
          <a:prstGeom prst="roundRect">
            <a:avLst>
              <a:gd fmla="val 2758" name="adj"/>
            </a:avLst>
          </a:prstGeom>
          <a:solidFill>
            <a:srgbClr val="F0F0F0"/>
          </a:solidFill>
          <a:ln cap="flat" cmpd="sng" w="9525">
            <a:solidFill>
              <a:srgbClr val="898989"/>
            </a:solidFill>
            <a:prstDash val="solid"/>
            <a:round/>
            <a:headEnd len="sm" w="sm" type="none"/>
            <a:tailEnd len="sm" w="sm" type="none"/>
          </a:ln>
          <a:effectLst>
            <a:outerShdw blurRad="142875"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id="154" name="Google Shape;154;p18"/>
          <p:cNvSpPr/>
          <p:nvPr/>
        </p:nvSpPr>
        <p:spPr>
          <a:xfrm>
            <a:off x="110050" y="1011775"/>
            <a:ext cx="4509300" cy="3697200"/>
          </a:xfrm>
          <a:prstGeom prst="roundRect">
            <a:avLst>
              <a:gd fmla="val 2863" name="adj"/>
            </a:avLst>
          </a:prstGeom>
          <a:solidFill>
            <a:srgbClr val="F0F0F0"/>
          </a:solidFill>
          <a:ln cap="flat" cmpd="sng" w="9525">
            <a:solidFill>
              <a:srgbClr val="898989"/>
            </a:solidFill>
            <a:prstDash val="solid"/>
            <a:round/>
            <a:headEnd len="sm" w="sm" type="none"/>
            <a:tailEnd len="sm" w="sm" type="none"/>
          </a:ln>
          <a:effectLst>
            <a:outerShdw blurRad="142875"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descr="Your startup LOGO" id="155" name="Google Shape;155;p18"/>
          <p:cNvSpPr/>
          <p:nvPr/>
        </p:nvSpPr>
        <p:spPr>
          <a:xfrm>
            <a:off x="247325" y="145724"/>
            <a:ext cx="983700" cy="648900"/>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lang="en" sz="1200">
                <a:solidFill>
                  <a:schemeClr val="dk1"/>
                </a:solidFill>
                <a:latin typeface="Oswald Medium"/>
                <a:ea typeface="Oswald Medium"/>
                <a:cs typeface="Oswald Medium"/>
                <a:sym typeface="Oswald Medium"/>
              </a:rPr>
              <a:t>DraftZero</a:t>
            </a:r>
            <a:endParaRPr b="0" i="0" sz="1200" u="none" cap="none" strike="noStrike">
              <a:solidFill>
                <a:schemeClr val="dk1"/>
              </a:solidFill>
              <a:latin typeface="Oswald Medium"/>
              <a:ea typeface="Oswald Medium"/>
              <a:cs typeface="Oswald Medium"/>
              <a:sym typeface="Oswald Medium"/>
            </a:endParaRPr>
          </a:p>
        </p:txBody>
      </p:sp>
      <p:sp>
        <p:nvSpPr>
          <p:cNvPr id="156" name="Google Shape;156;p18"/>
          <p:cNvSpPr/>
          <p:nvPr/>
        </p:nvSpPr>
        <p:spPr>
          <a:xfrm>
            <a:off x="0" y="4766072"/>
            <a:ext cx="9144000" cy="377400"/>
          </a:xfrm>
          <a:prstGeom prst="rect">
            <a:avLst/>
          </a:prstGeom>
          <a:solidFill>
            <a:srgbClr val="0070C0"/>
          </a:solidFill>
          <a:ln>
            <a:noFill/>
          </a:ln>
          <a:effectLst>
            <a:outerShdw rotWithShape="0" dir="5400000" dist="23000">
              <a:srgbClr val="808080">
                <a:alpha val="3412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157" name="Google Shape;157;p18"/>
          <p:cNvSpPr txBox="1"/>
          <p:nvPr>
            <p:ph type="title"/>
          </p:nvPr>
        </p:nvSpPr>
        <p:spPr>
          <a:xfrm>
            <a:off x="457200" y="-35719"/>
            <a:ext cx="8229600" cy="857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 sz="2700">
                <a:solidFill>
                  <a:srgbClr val="17375E"/>
                </a:solidFill>
                <a:latin typeface="Times New Roman"/>
                <a:ea typeface="Times New Roman"/>
                <a:cs typeface="Times New Roman"/>
                <a:sym typeface="Times New Roman"/>
              </a:rPr>
              <a:t>RESEARCH  AND REFERENCES</a:t>
            </a:r>
            <a:endParaRPr>
              <a:solidFill>
                <a:srgbClr val="17375E"/>
              </a:solidFill>
            </a:endParaRPr>
          </a:p>
        </p:txBody>
      </p:sp>
      <p:sp>
        <p:nvSpPr>
          <p:cNvPr id="158" name="Google Shape;158;p18"/>
          <p:cNvSpPr txBox="1"/>
          <p:nvPr>
            <p:ph idx="12" type="sldNum"/>
          </p:nvPr>
        </p:nvSpPr>
        <p:spPr>
          <a:xfrm>
            <a:off x="6553200" y="4767265"/>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159" name="Google Shape;159;p18"/>
          <p:cNvSpPr txBox="1"/>
          <p:nvPr>
            <p:ph idx="11" type="ftr"/>
          </p:nvPr>
        </p:nvSpPr>
        <p:spPr>
          <a:xfrm>
            <a:off x="3486150" y="4767265"/>
            <a:ext cx="24030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900"/>
              <a:buFont typeface="Oswald"/>
              <a:buNone/>
            </a:pPr>
            <a:r>
              <a:rPr b="0" i="0" lang="en" sz="900" u="none" cap="none" strike="noStrike">
                <a:solidFill>
                  <a:srgbClr val="FFFFFF"/>
                </a:solidFill>
                <a:latin typeface="Oswald"/>
                <a:ea typeface="Oswald"/>
                <a:cs typeface="Oswald"/>
                <a:sym typeface="Oswald"/>
              </a:rPr>
              <a:t>@SIH Idea submission- Template</a:t>
            </a:r>
            <a:endParaRPr b="0" i="0" sz="900" u="none" cap="none" strike="noStrike">
              <a:solidFill>
                <a:srgbClr val="FFFFFF"/>
              </a:solidFill>
              <a:latin typeface="Oswald"/>
              <a:ea typeface="Oswald"/>
              <a:cs typeface="Oswald"/>
              <a:sym typeface="Oswald"/>
            </a:endParaRPr>
          </a:p>
        </p:txBody>
      </p:sp>
      <p:sp>
        <p:nvSpPr>
          <p:cNvPr id="160" name="Google Shape;160;p18"/>
          <p:cNvSpPr txBox="1"/>
          <p:nvPr/>
        </p:nvSpPr>
        <p:spPr>
          <a:xfrm>
            <a:off x="181300" y="950950"/>
            <a:ext cx="4438200" cy="429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1. </a:t>
            </a:r>
            <a:r>
              <a:rPr b="1" lang="en" sz="1300">
                <a:solidFill>
                  <a:srgbClr val="0070C0"/>
                </a:solidFill>
                <a:latin typeface="Calibri"/>
                <a:ea typeface="Calibri"/>
                <a:cs typeface="Calibri"/>
                <a:sym typeface="Calibri"/>
              </a:rPr>
              <a:t>A Review of Monitoring, Calculation, and Simulation Methods for Ground Subsidence Induced by Coal Mining </a:t>
            </a:r>
            <a:endParaRPr b="1" sz="1300">
              <a:solidFill>
                <a:srgbClr val="0070C0"/>
              </a:solidFill>
              <a:latin typeface="Calibri"/>
              <a:ea typeface="Calibri"/>
              <a:cs typeface="Calibri"/>
              <a:sym typeface="Calibri"/>
            </a:endParaRPr>
          </a:p>
          <a:p>
            <a:pPr indent="0" lvl="0" marL="0" rtl="0" algn="l">
              <a:lnSpc>
                <a:spcPct val="115000"/>
              </a:lnSpc>
              <a:spcBef>
                <a:spcPts val="0"/>
              </a:spcBef>
              <a:spcAft>
                <a:spcPts val="0"/>
              </a:spcAft>
              <a:buNone/>
            </a:pPr>
            <a:r>
              <a:rPr lang="en" sz="1300">
                <a:solidFill>
                  <a:schemeClr val="dk1"/>
                </a:solidFill>
                <a:latin typeface="Calibri"/>
                <a:ea typeface="Calibri"/>
                <a:cs typeface="Calibri"/>
                <a:sym typeface="Calibri"/>
              </a:rPr>
              <a:t>International Journal of Coal Science &amp; Technology</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DOI</a:t>
            </a:r>
            <a:r>
              <a:rPr lang="en" sz="1300">
                <a:solidFill>
                  <a:schemeClr val="dk1"/>
                </a:solidFill>
                <a:latin typeface="Calibri"/>
                <a:ea typeface="Calibri"/>
                <a:cs typeface="Calibri"/>
                <a:sym typeface="Calibri"/>
              </a:rPr>
              <a:t>: 10.1007/s40789-023-00595-4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2. </a:t>
            </a:r>
            <a:r>
              <a:rPr b="1" lang="en" sz="1300">
                <a:solidFill>
                  <a:srgbClr val="0070C0"/>
                </a:solidFill>
                <a:latin typeface="Calibri"/>
                <a:ea typeface="Calibri"/>
                <a:cs typeface="Calibri"/>
                <a:sym typeface="Calibri"/>
              </a:rPr>
              <a:t>An Integrated Environment Monitoring System for Underground Coal Mines — Wireless Sensor Network Subsystem with Multi-Parameter Monitoring </a:t>
            </a:r>
            <a:endParaRPr b="1" sz="1300">
              <a:solidFill>
                <a:srgbClr val="0070C0"/>
              </a:solidFill>
              <a:latin typeface="Calibri"/>
              <a:ea typeface="Calibri"/>
              <a:cs typeface="Calibri"/>
              <a:sym typeface="Calibri"/>
            </a:endParaRPr>
          </a:p>
          <a:p>
            <a:pPr indent="0" lvl="0" marL="0" rtl="0" algn="l">
              <a:lnSpc>
                <a:spcPct val="115000"/>
              </a:lnSpc>
              <a:spcBef>
                <a:spcPts val="0"/>
              </a:spcBef>
              <a:spcAft>
                <a:spcPts val="0"/>
              </a:spcAft>
              <a:buNone/>
            </a:pPr>
            <a:r>
              <a:rPr lang="en" sz="1300">
                <a:solidFill>
                  <a:schemeClr val="dk1"/>
                </a:solidFill>
                <a:latin typeface="Calibri"/>
                <a:ea typeface="Calibri"/>
                <a:cs typeface="Calibri"/>
                <a:sym typeface="Calibri"/>
              </a:rPr>
              <a:t>Sensors, 2014</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DOI</a:t>
            </a:r>
            <a:r>
              <a:rPr lang="en" sz="1300">
                <a:solidFill>
                  <a:schemeClr val="dk1"/>
                </a:solidFill>
                <a:latin typeface="Calibri"/>
                <a:ea typeface="Calibri"/>
                <a:cs typeface="Calibri"/>
                <a:sym typeface="Calibri"/>
              </a:rPr>
              <a:t>: 10.3390/s140713149</a:t>
            </a:r>
            <a:r>
              <a:rPr b="1" lang="en" sz="1300">
                <a:solidFill>
                  <a:schemeClr val="dk1"/>
                </a:solidFill>
                <a:latin typeface="Calibri"/>
                <a:ea typeface="Calibri"/>
                <a:cs typeface="Calibri"/>
                <a:sym typeface="Calibri"/>
              </a:rPr>
              <a:t> </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3. </a:t>
            </a:r>
            <a:r>
              <a:rPr b="1" lang="en" sz="1300">
                <a:solidFill>
                  <a:srgbClr val="0070C0"/>
                </a:solidFill>
                <a:latin typeface="Calibri"/>
                <a:ea typeface="Calibri"/>
                <a:cs typeface="Calibri"/>
                <a:sym typeface="Calibri"/>
              </a:rPr>
              <a:t>Underground Coal Mine Monitoring with Wireless Sensor Networks </a:t>
            </a:r>
            <a:endParaRPr b="1" sz="1300">
              <a:solidFill>
                <a:srgbClr val="0070C0"/>
              </a:solidFill>
              <a:latin typeface="Calibri"/>
              <a:ea typeface="Calibri"/>
              <a:cs typeface="Calibri"/>
              <a:sym typeface="Calibri"/>
            </a:endParaRPr>
          </a:p>
          <a:p>
            <a:pPr indent="0" lvl="0" marL="0" rtl="0" algn="l">
              <a:lnSpc>
                <a:spcPct val="115000"/>
              </a:lnSpc>
              <a:spcBef>
                <a:spcPts val="0"/>
              </a:spcBef>
              <a:spcAft>
                <a:spcPts val="0"/>
              </a:spcAft>
              <a:buNone/>
            </a:pPr>
            <a:r>
              <a:rPr lang="en" sz="1300">
                <a:solidFill>
                  <a:schemeClr val="dk1"/>
                </a:solidFill>
                <a:latin typeface="Calibri"/>
                <a:ea typeface="Calibri"/>
                <a:cs typeface="Calibri"/>
                <a:sym typeface="Calibri"/>
              </a:rPr>
              <a:t>ACM Transactions on Sensor Networks, 2009</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DOI</a:t>
            </a:r>
            <a:r>
              <a:rPr lang="en" sz="1300">
                <a:solidFill>
                  <a:schemeClr val="dk1"/>
                </a:solidFill>
                <a:latin typeface="Calibri"/>
                <a:ea typeface="Calibri"/>
                <a:cs typeface="Calibri"/>
                <a:sym typeface="Calibri"/>
              </a:rPr>
              <a:t>: 10.1145/1498915.1498916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4. </a:t>
            </a:r>
            <a:r>
              <a:rPr b="1" lang="en" sz="1300">
                <a:solidFill>
                  <a:srgbClr val="0070C0"/>
                </a:solidFill>
                <a:latin typeface="Calibri"/>
                <a:ea typeface="Calibri"/>
                <a:cs typeface="Calibri"/>
                <a:sym typeface="Calibri"/>
              </a:rPr>
              <a:t>Design of Monitoring System for Coal Mine Safety Based on Wireless Sensor Network </a:t>
            </a:r>
            <a:endParaRPr b="1" sz="1300">
              <a:solidFill>
                <a:srgbClr val="0070C0"/>
              </a:solidFill>
              <a:latin typeface="Calibri"/>
              <a:ea typeface="Calibri"/>
              <a:cs typeface="Calibri"/>
              <a:sym typeface="Calibri"/>
            </a:endParaRPr>
          </a:p>
          <a:p>
            <a:pPr indent="0" lvl="0" marL="0" rtl="0" algn="l">
              <a:lnSpc>
                <a:spcPct val="115000"/>
              </a:lnSpc>
              <a:spcBef>
                <a:spcPts val="0"/>
              </a:spcBef>
              <a:spcAft>
                <a:spcPts val="0"/>
              </a:spcAft>
              <a:buNone/>
            </a:pPr>
            <a:r>
              <a:rPr lang="en" sz="1300">
                <a:solidFill>
                  <a:schemeClr val="dk1"/>
                </a:solidFill>
                <a:latin typeface="Calibri"/>
                <a:ea typeface="Calibri"/>
                <a:cs typeface="Calibri"/>
                <a:sym typeface="Calibri"/>
              </a:rPr>
              <a:t>IEEE, 2008</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 sz="1300">
                <a:solidFill>
                  <a:schemeClr val="dk1"/>
                </a:solidFill>
                <a:latin typeface="Calibri"/>
                <a:ea typeface="Calibri"/>
                <a:cs typeface="Calibri"/>
                <a:sym typeface="Calibri"/>
              </a:rPr>
              <a:t>DOI</a:t>
            </a:r>
            <a:r>
              <a:rPr lang="en" sz="1300">
                <a:solidFill>
                  <a:schemeClr val="dk1"/>
                </a:solidFill>
                <a:latin typeface="Calibri"/>
                <a:ea typeface="Calibri"/>
                <a:cs typeface="Calibri"/>
                <a:sym typeface="Calibri"/>
              </a:rPr>
              <a:t>: 10.1109/MESA.2008.4735664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161" name="Google Shape;161;p18"/>
          <p:cNvSpPr txBox="1"/>
          <p:nvPr/>
        </p:nvSpPr>
        <p:spPr>
          <a:xfrm>
            <a:off x="4865900" y="1011775"/>
            <a:ext cx="4149600" cy="594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5</a:t>
            </a:r>
            <a:r>
              <a:rPr lang="en" sz="1200">
                <a:solidFill>
                  <a:schemeClr val="dk1"/>
                </a:solidFill>
                <a:latin typeface="Calibri"/>
                <a:ea typeface="Calibri"/>
                <a:cs typeface="Calibri"/>
                <a:sym typeface="Calibri"/>
              </a:rPr>
              <a:t>. </a:t>
            </a:r>
            <a:r>
              <a:rPr b="1" lang="en" sz="1200">
                <a:solidFill>
                  <a:srgbClr val="0070C0"/>
                </a:solidFill>
                <a:latin typeface="Calibri"/>
                <a:ea typeface="Calibri"/>
                <a:cs typeface="Calibri"/>
                <a:sym typeface="Calibri"/>
              </a:rPr>
              <a:t>Prediction of Mine Subsidence Based on InSAR Technology and the LSTM Algorithm </a:t>
            </a:r>
            <a:endParaRPr b="1" sz="1200">
              <a:solidFill>
                <a:srgbClr val="0070C0"/>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Remote Sensing, 2023</a:t>
            </a:r>
            <a:br>
              <a:rPr lang="en" sz="1200">
                <a:solidFill>
                  <a:schemeClr val="dk1"/>
                </a:solidFill>
                <a:latin typeface="Calibri"/>
                <a:ea typeface="Calibri"/>
                <a:cs typeface="Calibri"/>
                <a:sym typeface="Calibri"/>
              </a:rPr>
            </a:br>
            <a:r>
              <a:rPr b="1" lang="en" sz="1200">
                <a:solidFill>
                  <a:schemeClr val="dk1"/>
                </a:solidFill>
                <a:latin typeface="Calibri"/>
                <a:ea typeface="Calibri"/>
                <a:cs typeface="Calibri"/>
                <a:sym typeface="Calibri"/>
              </a:rPr>
              <a:t>DOI</a:t>
            </a:r>
            <a:r>
              <a:rPr lang="en" sz="1200">
                <a:solidFill>
                  <a:schemeClr val="dk1"/>
                </a:solidFill>
                <a:latin typeface="Calibri"/>
                <a:ea typeface="Calibri"/>
                <a:cs typeface="Calibri"/>
                <a:sym typeface="Calibri"/>
              </a:rPr>
              <a:t>: 10.3390/rs15112755 </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 sz="1200">
                <a:solidFill>
                  <a:schemeClr val="dk1"/>
                </a:solidFill>
                <a:latin typeface="Calibri"/>
                <a:ea typeface="Calibri"/>
                <a:cs typeface="Calibri"/>
                <a:sym typeface="Calibri"/>
              </a:rPr>
              <a:t>6.</a:t>
            </a:r>
            <a:r>
              <a:rPr b="1" lang="en" sz="1200">
                <a:solidFill>
                  <a:srgbClr val="0070C0"/>
                </a:solidFill>
                <a:latin typeface="Calibri"/>
                <a:ea typeface="Calibri"/>
                <a:cs typeface="Calibri"/>
                <a:sym typeface="Calibri"/>
              </a:rPr>
              <a:t> Research on Mining Maximum Subsidence Prediction Based on Genetic Algorithm Combined with XGBoost Model </a:t>
            </a:r>
            <a:endParaRPr b="1" sz="1200">
              <a:solidFill>
                <a:srgbClr val="0070C0"/>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Calibri"/>
                <a:ea typeface="Calibri"/>
                <a:cs typeface="Calibri"/>
                <a:sym typeface="Calibri"/>
              </a:rPr>
              <a:t>Sustainability, 2022</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b="1" lang="en" sz="1200">
                <a:solidFill>
                  <a:schemeClr val="dk1"/>
                </a:solidFill>
                <a:latin typeface="Calibri"/>
                <a:ea typeface="Calibri"/>
                <a:cs typeface="Calibri"/>
                <a:sym typeface="Calibri"/>
              </a:rPr>
              <a:t>DOI</a:t>
            </a:r>
            <a:r>
              <a:rPr lang="en" sz="1200">
                <a:solidFill>
                  <a:schemeClr val="dk1"/>
                </a:solidFill>
                <a:latin typeface="Calibri"/>
                <a:ea typeface="Calibri"/>
                <a:cs typeface="Calibri"/>
                <a:sym typeface="Calibri"/>
              </a:rPr>
              <a:t>: 10.3390/su141610421 </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b="1" lang="en" sz="1200">
                <a:solidFill>
                  <a:schemeClr val="dk2"/>
                </a:solidFill>
                <a:latin typeface="Calibri"/>
                <a:ea typeface="Calibri"/>
                <a:cs typeface="Calibri"/>
                <a:sym typeface="Calibri"/>
              </a:rPr>
              <a:t>DATASETS :</a:t>
            </a:r>
            <a:endParaRPr b="1" sz="1200">
              <a:solidFill>
                <a:schemeClr val="dk2"/>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Calibri"/>
                <a:ea typeface="Calibri"/>
                <a:cs typeface="Calibri"/>
                <a:sym typeface="Calibri"/>
              </a:rPr>
              <a:t>InSAR → Surface deformation and subsidence monitoring</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Calibri"/>
                <a:ea typeface="Calibri"/>
                <a:cs typeface="Calibri"/>
                <a:sym typeface="Calibri"/>
              </a:rPr>
              <a:t>Wireless Sensor Networks → Distributed mine monitoring</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Calibri"/>
                <a:ea typeface="Calibri"/>
                <a:cs typeface="Calibri"/>
                <a:sym typeface="Calibri"/>
              </a:rPr>
              <a:t>ESP32 + LoRa → Low-cost sensor-node communication</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Calibri"/>
                <a:ea typeface="Calibri"/>
                <a:cs typeface="Calibri"/>
                <a:sym typeface="Calibri"/>
              </a:rPr>
              <a:t>LSTM / XGBoost → Subsidence trend and risk prediction</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latin typeface="Calibri"/>
                <a:ea typeface="Calibri"/>
                <a:cs typeface="Calibri"/>
                <a:sym typeface="Calibri"/>
              </a:rPr>
              <a:t>GIS / 3D Mapping → Deformation and risk-zone visualization</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lnSpc>
                <a:spcPct val="115000"/>
              </a:lnSpc>
              <a:spcBef>
                <a:spcPts val="600"/>
              </a:spcBef>
              <a:spcAft>
                <a:spcPts val="0"/>
              </a:spcAft>
              <a:buClr>
                <a:schemeClr val="dk1"/>
              </a:buClr>
              <a:buSzPts val="1100"/>
              <a:buFont typeface="Arial"/>
              <a:buNone/>
            </a:pPr>
            <a:r>
              <a:t/>
            </a:r>
            <a:endParaRPr sz="1200">
              <a:latin typeface="Calibri"/>
              <a:ea typeface="Calibri"/>
              <a:cs typeface="Calibri"/>
              <a:sym typeface="Calibri"/>
            </a:endParaRPr>
          </a:p>
          <a:p>
            <a:pPr indent="0" lvl="0" marL="0" rtl="0" algn="l">
              <a:lnSpc>
                <a:spcPct val="115000"/>
              </a:lnSpc>
              <a:spcBef>
                <a:spcPts val="2400"/>
              </a:spcBef>
              <a:spcAft>
                <a:spcPts val="0"/>
              </a:spcAft>
              <a:buNone/>
            </a:pPr>
            <a:r>
              <a:t/>
            </a:r>
            <a:endParaRPr sz="1100">
              <a:solidFill>
                <a:schemeClr val="dk1"/>
              </a:solidFill>
              <a:latin typeface="Calibri"/>
              <a:ea typeface="Calibri"/>
              <a:cs typeface="Calibri"/>
              <a:sym typeface="Calibri"/>
            </a:endParaRPr>
          </a:p>
          <a:p>
            <a:pPr indent="0" lvl="0" marL="0" rtl="0" algn="l">
              <a:spcBef>
                <a:spcPts val="60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162" name="Google Shape;162;p18"/>
          <p:cNvPicPr preferRelativeResize="0"/>
          <p:nvPr/>
        </p:nvPicPr>
        <p:blipFill>
          <a:blip r:embed="rId3">
            <a:alphaModFix/>
          </a:blip>
          <a:stretch>
            <a:fillRect/>
          </a:stretch>
        </p:blipFill>
        <p:spPr>
          <a:xfrm>
            <a:off x="7810735" y="0"/>
            <a:ext cx="1333265" cy="630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